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Play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56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KznMAEm+hLoWO1C3rShJkzkkn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7684" autoAdjust="0"/>
  </p:normalViewPr>
  <p:slideViewPr>
    <p:cSldViewPr snapToGrid="0">
      <p:cViewPr varScale="1">
        <p:scale>
          <a:sx n="64" d="100"/>
          <a:sy n="64" d="100"/>
        </p:scale>
        <p:origin x="1397" y="72"/>
      </p:cViewPr>
      <p:guideLst>
        <p:guide orient="horz" pos="16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86deca15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86deca15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86deca15b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86deca15b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86deca15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86deca15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86deca15b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86deca15b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8f340af85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8f340af85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8f340af85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8f340af85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86deca15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86deca15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86deca15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b86deca15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f1cd1e8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8f1cd1e8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86deca15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b86deca15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8f1cd1e8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8f1cd1e8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86deca15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b86deca15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8f340af85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8f340af85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86deca15b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b86deca15b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86deca15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86deca15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86deca15b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b86deca15b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86deca15b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86deca15b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9e909def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b9e909def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9e909def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b9e909def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og indholdsobjek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snitsoverskrift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 indholdsobjekter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mmenligning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un tite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m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hold med billedtekst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lede med billedtekst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og lodret teks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dret titel og teks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86deca15b_0_8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b86deca15b_0_8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g3b86deca15b_0_8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4DXHzHSYnXVVVRLE-rbOtciuuxSQrx-S/view?usp=drive_link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RG2 Gripp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RG2 Gripper"/>
          <p:cNvPicPr preferRelativeResize="0"/>
          <p:nvPr/>
        </p:nvPicPr>
        <p:blipFill rotWithShape="1">
          <a:blip r:embed="rId4">
            <a:alphaModFix/>
          </a:blip>
          <a:srcRect l="26972" t="7531"/>
          <a:stretch/>
        </p:blipFill>
        <p:spPr>
          <a:xfrm rot="4268305">
            <a:off x="4043150" y="1205549"/>
            <a:ext cx="4529237" cy="621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9609" y="223284"/>
            <a:ext cx="1493985" cy="21796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900771" y="150109"/>
            <a:ext cx="27504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AEAEAE"/>
                </a:solidFill>
                <a:latin typeface="Arial"/>
                <a:ea typeface="Arial"/>
                <a:cs typeface="Arial"/>
                <a:sym typeface="Arial"/>
              </a:rPr>
              <a:t>Group 1</a:t>
            </a:r>
            <a:endParaRPr sz="1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AEAEAE"/>
                </a:solidFill>
                <a:latin typeface="Arial"/>
                <a:ea typeface="Arial"/>
                <a:cs typeface="Arial"/>
                <a:sym typeface="Arial"/>
              </a:rPr>
              <a:t>Lars Bach Sørensen (S235648) , </a:t>
            </a:r>
            <a:endParaRPr sz="1300" b="1">
              <a:solidFill>
                <a:srgbClr val="AEAEA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AEAEAE"/>
                </a:solidFill>
                <a:latin typeface="Arial"/>
                <a:ea typeface="Arial"/>
                <a:cs typeface="Arial"/>
                <a:sym typeface="Arial"/>
              </a:rPr>
              <a:t>Lasse Manicus (S235655),</a:t>
            </a:r>
            <a:endParaRPr sz="1300" b="1">
              <a:solidFill>
                <a:srgbClr val="AEAEA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AEAEAE"/>
                </a:solidFill>
                <a:latin typeface="Arial"/>
                <a:ea typeface="Arial"/>
                <a:cs typeface="Arial"/>
                <a:sym typeface="Arial"/>
              </a:rPr>
              <a:t>Marius Millington (S235659)</a:t>
            </a:r>
            <a:endParaRPr sz="1300" b="1">
              <a:solidFill>
                <a:srgbClr val="AEAE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 rot="5400000">
            <a:off x="9220775" y="122192"/>
            <a:ext cx="2859932" cy="2857839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326887" y="2966936"/>
            <a:ext cx="7733400" cy="723300"/>
          </a:xfrm>
          <a:prstGeom prst="rect">
            <a:avLst/>
          </a:prstGeom>
          <a:noFill/>
          <a:ln w="76200" cap="flat" cmpd="sng">
            <a:solidFill>
              <a:srgbClr val="6D92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INDUSTRIAL PROGRAMMING</a:t>
            </a:r>
            <a:endParaRPr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 descr="RG2 Gripp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descr="RG2 Gripper"/>
          <p:cNvPicPr preferRelativeResize="0"/>
          <p:nvPr/>
        </p:nvPicPr>
        <p:blipFill rotWithShape="1">
          <a:blip r:embed="rId4">
            <a:alphaModFix/>
          </a:blip>
          <a:srcRect l="26923" t="7555"/>
          <a:stretch/>
        </p:blipFill>
        <p:spPr>
          <a:xfrm rot="4268305">
            <a:off x="4040343" y="1205146"/>
            <a:ext cx="4532334" cy="621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9609" y="223284"/>
            <a:ext cx="1493985" cy="2179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2326887" y="2966936"/>
            <a:ext cx="7733400" cy="723300"/>
          </a:xfrm>
          <a:prstGeom prst="rect">
            <a:avLst/>
          </a:prstGeom>
          <a:noFill/>
          <a:ln w="76200" cap="flat" cmpd="sng">
            <a:solidFill>
              <a:srgbClr val="6D92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INDUSTRIAL PROGRAMMING</a:t>
            </a:r>
            <a:endParaRPr sz="4100"/>
          </a:p>
        </p:txBody>
      </p:sp>
      <p:sp>
        <p:nvSpPr>
          <p:cNvPr id="102" name="Google Shape;102;p2"/>
          <p:cNvSpPr/>
          <p:nvPr/>
        </p:nvSpPr>
        <p:spPr>
          <a:xfrm rot="5400000">
            <a:off x="9220775" y="122192"/>
            <a:ext cx="2859932" cy="2857839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 descr="Et billede, der indeholder plastik/plast, container&#10;&#10;AI-genereret indhold kan være ukorrek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77126" y="338195"/>
            <a:ext cx="1442966" cy="161251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2326894" y="2961046"/>
            <a:ext cx="7733400" cy="723300"/>
          </a:xfrm>
          <a:prstGeom prst="rect">
            <a:avLst/>
          </a:prstGeom>
          <a:noFill/>
          <a:ln w="76200" cap="flat" cmpd="sng">
            <a:solidFill>
              <a:srgbClr val="6D92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TOY FACTORY</a:t>
            </a:r>
            <a:endParaRPr sz="4100"/>
          </a:p>
        </p:txBody>
      </p:sp>
      <p:sp>
        <p:nvSpPr>
          <p:cNvPr id="105" name="Google Shape;105;p2"/>
          <p:cNvSpPr txBox="1"/>
          <p:nvPr/>
        </p:nvSpPr>
        <p:spPr>
          <a:xfrm>
            <a:off x="1900771" y="150109"/>
            <a:ext cx="27504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AEAEAE"/>
                </a:solidFill>
                <a:latin typeface="Arial"/>
                <a:ea typeface="Arial"/>
                <a:cs typeface="Arial"/>
                <a:sym typeface="Arial"/>
              </a:rPr>
              <a:t>Group 1</a:t>
            </a:r>
            <a:endParaRPr sz="1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AEAEAE"/>
                </a:solidFill>
                <a:latin typeface="Arial"/>
                <a:ea typeface="Arial"/>
                <a:cs typeface="Arial"/>
                <a:sym typeface="Arial"/>
              </a:rPr>
              <a:t>Lars Bach Sørensen (S235648) , </a:t>
            </a:r>
            <a:endParaRPr sz="1300" b="1">
              <a:solidFill>
                <a:srgbClr val="AEAEA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AEAEAE"/>
                </a:solidFill>
                <a:latin typeface="Arial"/>
                <a:ea typeface="Arial"/>
                <a:cs typeface="Arial"/>
                <a:sym typeface="Arial"/>
              </a:rPr>
              <a:t>Lasse Manicus (S235655),</a:t>
            </a:r>
            <a:endParaRPr sz="1300" b="1">
              <a:solidFill>
                <a:srgbClr val="AEAEA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AEAEAE"/>
                </a:solidFill>
                <a:latin typeface="Arial"/>
                <a:ea typeface="Arial"/>
                <a:cs typeface="Arial"/>
                <a:sym typeface="Arial"/>
              </a:rPr>
              <a:t>Marius Millington (S235659)</a:t>
            </a:r>
            <a:endParaRPr sz="1300" b="1">
              <a:solidFill>
                <a:srgbClr val="AEAEA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" dur="2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b86deca15b_0_2" descr="RG2 Gripp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b86deca15b_0_2"/>
          <p:cNvSpPr txBox="1">
            <a:spLocks noGrp="1"/>
          </p:cNvSpPr>
          <p:nvPr>
            <p:ph type="title"/>
          </p:nvPr>
        </p:nvSpPr>
        <p:spPr>
          <a:xfrm>
            <a:off x="415600" y="593375"/>
            <a:ext cx="96933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1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Introduction / Problem (Scope)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b86deca15b_0_2"/>
          <p:cNvSpPr txBox="1">
            <a:spLocks noGrp="1"/>
          </p:cNvSpPr>
          <p:nvPr>
            <p:ph type="body" idx="1"/>
          </p:nvPr>
        </p:nvSpPr>
        <p:spPr>
          <a:xfrm>
            <a:off x="1493125" y="1232800"/>
            <a:ext cx="6134100" cy="499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/>
              <a:t>Project context</a:t>
            </a:r>
            <a:endParaRPr sz="1600" b="1"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Automated assembly prototype for a toy box factory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Developed as part of the </a:t>
            </a:r>
            <a:r>
              <a:rPr lang="en-US" sz="1600" i="1"/>
              <a:t>Industrial Programming</a:t>
            </a:r>
            <a:r>
              <a:rPr lang="en-US" sz="1600"/>
              <a:t> course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Focus on integrating software, database, and an industrial UR robot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/>
              <a:t>Project objective</a:t>
            </a:r>
            <a:endParaRPr sz="1600" b="1"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Convert digital production orders into deterministic robot motion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Demonstrate end-to-end flow: </a:t>
            </a:r>
            <a:br>
              <a:rPr lang="en-US" sz="1600"/>
            </a:br>
            <a:r>
              <a:rPr lang="en-US" sz="1600"/>
              <a:t>GUI → Database → Robot → Database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Ensure predictable, safe, and repeatable robot behavior</a:t>
            </a:r>
            <a:endParaRPr sz="1600"/>
          </a:p>
        </p:txBody>
      </p:sp>
      <p:sp>
        <p:nvSpPr>
          <p:cNvPr id="113" name="Google Shape;113;g3b86deca15b_0_2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g3b86deca15b_0_2" descr="Et billede, der indeholder plastik/plast, container&#10;&#10;AI-genereret indhold kan være ukorrek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b86deca15b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1475" y="2179309"/>
            <a:ext cx="4314825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86deca15b_1_2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1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Demonstration video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b86deca15b_1_2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5900" b="1" u="sng">
                <a:solidFill>
                  <a:schemeClr val="hlink"/>
                </a:solidFill>
                <a:hlinkClick r:id="rId3"/>
              </a:rPr>
              <a:t>Robot demonstration - Group 1</a:t>
            </a:r>
            <a:endParaRPr sz="590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g3b86deca15b_1_24" descr="RG2 Grip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b86deca15b_1_24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g3b86deca15b_1_24" descr="Et billede, der indeholder plastik/plast, container&#10;&#10;AI-genereret indhold kan være ukorrek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b86deca15b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3800" y="1177599"/>
            <a:ext cx="6772600" cy="376714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b86deca15b_0_1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1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b86deca15b_0_12"/>
          <p:cNvSpPr txBox="1">
            <a:spLocks noGrp="1"/>
          </p:cNvSpPr>
          <p:nvPr>
            <p:ph type="body" idx="1"/>
          </p:nvPr>
        </p:nvSpPr>
        <p:spPr>
          <a:xfrm>
            <a:off x="566125" y="1356875"/>
            <a:ext cx="3944400" cy="506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600" b="1"/>
              <a:t>GUI / Operator Station</a:t>
            </a:r>
            <a:endParaRPr sz="1600" b="1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Create &amp; monitor queue &amp; orders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Start / control production</a:t>
            </a:r>
            <a:endParaRPr sz="1600"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600" b="1"/>
              <a:t>Application Layer (Control Logic)</a:t>
            </a:r>
            <a:endParaRPr sz="1600" b="1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Reads next queued order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Maps order → predefined robot sequence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Executes robot + update DB</a:t>
            </a:r>
            <a:endParaRPr sz="1600"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endParaRPr sz="1600"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600" b="1"/>
              <a:t>Data Layer (EF Core + SQLite)</a:t>
            </a:r>
            <a:endParaRPr sz="1600" b="1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Orders (Queued / Processed)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Persistent system state</a:t>
            </a:r>
            <a:endParaRPr sz="1600"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endParaRPr sz="1600"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-US" sz="1600" b="1"/>
              <a:t>Robot Integration Layer</a:t>
            </a:r>
            <a:endParaRPr sz="1600" b="1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URScript via TCP/IP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Centralized motion sequences &amp; positions</a:t>
            </a:r>
            <a:endParaRPr sz="1600" b="1"/>
          </a:p>
        </p:txBody>
      </p:sp>
      <p:pic>
        <p:nvPicPr>
          <p:cNvPr id="132" name="Google Shape;132;g3b86deca15b_0_12" descr="RG2 Grip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2975" y="6091825"/>
            <a:ext cx="585701" cy="63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b86deca15b_0_12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g3b86deca15b_0_12" descr="Et billede, der indeholder plastik/plast, container&#10;&#10;AI-genereret indhold kan være ukorrek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b86deca15b_0_12"/>
          <p:cNvSpPr txBox="1"/>
          <p:nvPr/>
        </p:nvSpPr>
        <p:spPr>
          <a:xfrm>
            <a:off x="6038400" y="4859425"/>
            <a:ext cx="50880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</a:rPr>
              <a:t>Design Principles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Single source of truth: Database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Clear separation of layers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Traceability &amp; restart safe operation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Robot logic decoupled from UI &amp; data</a:t>
            </a:r>
            <a:r>
              <a:rPr lang="en-US" sz="1600" b="1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6" name="Google Shape;136;g3b86deca15b_0_12"/>
          <p:cNvSpPr/>
          <p:nvPr/>
        </p:nvSpPr>
        <p:spPr>
          <a:xfrm>
            <a:off x="4595873" y="3848552"/>
            <a:ext cx="1026600" cy="678000"/>
          </a:xfrm>
          <a:prstGeom prst="rect">
            <a:avLst/>
          </a:prstGeom>
          <a:solidFill>
            <a:schemeClr val="lt2"/>
          </a:solidFill>
          <a:ln w="99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50" tIns="94950" rIns="94950" bIns="94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6" b="1"/>
              <a:t>Operator (GUI)</a:t>
            </a:r>
            <a:endParaRPr sz="1276" b="1"/>
          </a:p>
        </p:txBody>
      </p:sp>
      <p:sp>
        <p:nvSpPr>
          <p:cNvPr id="137" name="Google Shape;137;g3b86deca15b_0_12"/>
          <p:cNvSpPr/>
          <p:nvPr/>
        </p:nvSpPr>
        <p:spPr>
          <a:xfrm>
            <a:off x="5863081" y="3848552"/>
            <a:ext cx="1026600" cy="678000"/>
          </a:xfrm>
          <a:prstGeom prst="rect">
            <a:avLst/>
          </a:prstGeom>
          <a:solidFill>
            <a:schemeClr val="lt2"/>
          </a:solidFill>
          <a:ln w="99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50" tIns="94950" rIns="94950" bIns="94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6" b="1"/>
              <a:t>SQLite Database</a:t>
            </a:r>
            <a:endParaRPr sz="1276" b="1"/>
          </a:p>
        </p:txBody>
      </p:sp>
      <p:sp>
        <p:nvSpPr>
          <p:cNvPr id="138" name="Google Shape;138;g3b86deca15b_0_12"/>
          <p:cNvSpPr/>
          <p:nvPr/>
        </p:nvSpPr>
        <p:spPr>
          <a:xfrm>
            <a:off x="7135261" y="3848555"/>
            <a:ext cx="1201200" cy="678000"/>
          </a:xfrm>
          <a:prstGeom prst="rect">
            <a:avLst/>
          </a:prstGeom>
          <a:solidFill>
            <a:schemeClr val="lt2"/>
          </a:solidFill>
          <a:ln w="99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50" tIns="94950" rIns="94950" bIns="94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6" b="1"/>
              <a:t>Application Logic</a:t>
            </a:r>
            <a:endParaRPr sz="1276" b="1"/>
          </a:p>
        </p:txBody>
      </p:sp>
      <p:sp>
        <p:nvSpPr>
          <p:cNvPr id="139" name="Google Shape;139;g3b86deca15b_0_12"/>
          <p:cNvSpPr/>
          <p:nvPr/>
        </p:nvSpPr>
        <p:spPr>
          <a:xfrm>
            <a:off x="8576479" y="3848552"/>
            <a:ext cx="1026600" cy="678000"/>
          </a:xfrm>
          <a:prstGeom prst="rect">
            <a:avLst/>
          </a:prstGeom>
          <a:solidFill>
            <a:schemeClr val="lt2"/>
          </a:solidFill>
          <a:ln w="99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50" tIns="94950" rIns="94950" bIns="94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6" b="1"/>
              <a:t>UR Robot</a:t>
            </a:r>
            <a:endParaRPr sz="1276" b="1"/>
          </a:p>
        </p:txBody>
      </p:sp>
      <p:sp>
        <p:nvSpPr>
          <p:cNvPr id="140" name="Google Shape;140;g3b86deca15b_0_12"/>
          <p:cNvSpPr/>
          <p:nvPr/>
        </p:nvSpPr>
        <p:spPr>
          <a:xfrm>
            <a:off x="9843208" y="3848552"/>
            <a:ext cx="1026600" cy="678000"/>
          </a:xfrm>
          <a:prstGeom prst="rect">
            <a:avLst/>
          </a:prstGeom>
          <a:solidFill>
            <a:schemeClr val="lt2"/>
          </a:solidFill>
          <a:ln w="99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50" tIns="94950" rIns="94950" bIns="94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6" b="1"/>
              <a:t>GUI Update</a:t>
            </a:r>
            <a:endParaRPr sz="1276" b="1"/>
          </a:p>
        </p:txBody>
      </p:sp>
      <p:cxnSp>
        <p:nvCxnSpPr>
          <p:cNvPr id="141" name="Google Shape;141;g3b86deca15b_0_12"/>
          <p:cNvCxnSpPr>
            <a:stCxn id="136" idx="3"/>
            <a:endCxn id="137" idx="1"/>
          </p:cNvCxnSpPr>
          <p:nvPr/>
        </p:nvCxnSpPr>
        <p:spPr>
          <a:xfrm>
            <a:off x="5622473" y="4187552"/>
            <a:ext cx="240600" cy="0"/>
          </a:xfrm>
          <a:prstGeom prst="straightConnector1">
            <a:avLst/>
          </a:prstGeom>
          <a:noFill/>
          <a:ln w="84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" name="Google Shape;142;g3b86deca15b_0_12"/>
          <p:cNvCxnSpPr>
            <a:stCxn id="137" idx="3"/>
            <a:endCxn id="138" idx="1"/>
          </p:cNvCxnSpPr>
          <p:nvPr/>
        </p:nvCxnSpPr>
        <p:spPr>
          <a:xfrm>
            <a:off x="6889681" y="4187552"/>
            <a:ext cx="245700" cy="0"/>
          </a:xfrm>
          <a:prstGeom prst="straightConnector1">
            <a:avLst/>
          </a:prstGeom>
          <a:noFill/>
          <a:ln w="84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" name="Google Shape;143;g3b86deca15b_0_12"/>
          <p:cNvCxnSpPr>
            <a:stCxn id="138" idx="3"/>
            <a:endCxn id="139" idx="1"/>
          </p:cNvCxnSpPr>
          <p:nvPr/>
        </p:nvCxnSpPr>
        <p:spPr>
          <a:xfrm>
            <a:off x="8336461" y="4187555"/>
            <a:ext cx="240000" cy="0"/>
          </a:xfrm>
          <a:prstGeom prst="straightConnector1">
            <a:avLst/>
          </a:prstGeom>
          <a:noFill/>
          <a:ln w="84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" name="Google Shape;144;g3b86deca15b_0_12"/>
          <p:cNvCxnSpPr>
            <a:stCxn id="139" idx="3"/>
            <a:endCxn id="140" idx="1"/>
          </p:cNvCxnSpPr>
          <p:nvPr/>
        </p:nvCxnSpPr>
        <p:spPr>
          <a:xfrm>
            <a:off x="9603079" y="4187552"/>
            <a:ext cx="240000" cy="0"/>
          </a:xfrm>
          <a:prstGeom prst="straightConnector1">
            <a:avLst/>
          </a:prstGeom>
          <a:noFill/>
          <a:ln w="84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5" name="Google Shape;145;g3b86deca15b_0_12"/>
          <p:cNvSpPr txBox="1"/>
          <p:nvPr/>
        </p:nvSpPr>
        <p:spPr>
          <a:xfrm>
            <a:off x="6487544" y="3400149"/>
            <a:ext cx="2887500" cy="4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525" tIns="76525" rIns="76525" bIns="76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43">
                <a:solidFill>
                  <a:schemeClr val="dk1"/>
                </a:solidFill>
              </a:rPr>
              <a:t>Production flow:</a:t>
            </a:r>
            <a:endParaRPr sz="2343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b86deca15b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552" y="4072972"/>
            <a:ext cx="10648801" cy="281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b86deca15b_0_27"/>
          <p:cNvSpPr txBox="1">
            <a:spLocks noGrp="1"/>
          </p:cNvSpPr>
          <p:nvPr>
            <p:ph type="title"/>
          </p:nvPr>
        </p:nvSpPr>
        <p:spPr>
          <a:xfrm>
            <a:off x="397600" y="2758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400"/>
              </a:spcBef>
              <a:spcAft>
                <a:spcPts val="11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Domain / Inventory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b86deca15b_0_27"/>
          <p:cNvSpPr txBox="1">
            <a:spLocks noGrp="1"/>
          </p:cNvSpPr>
          <p:nvPr>
            <p:ph type="body" idx="1"/>
          </p:nvPr>
        </p:nvSpPr>
        <p:spPr>
          <a:xfrm>
            <a:off x="623200" y="934050"/>
            <a:ext cx="8824200" cy="446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600" b="1"/>
              <a:t>Domain Model – Core Business Logic:</a:t>
            </a:r>
            <a:br>
              <a:rPr lang="en-US" sz="1600" b="1"/>
            </a:br>
            <a:r>
              <a:rPr lang="en-US" sz="1600"/>
              <a:t>What is produced and in which order, rather than robot assembly. Independent of gui and robot.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600" b="1"/>
              <a:t>Inventory &amp; item</a:t>
            </a:r>
            <a:endParaRPr sz="1600" b="1"/>
          </a:p>
          <a:p>
            <a:pPr marL="457200" lvl="0" indent="-3302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Represents physical components used in production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Inventory = collection of items + quantities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Common item abstraction with optional specialization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Tracks stock an updates when orders are processed.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600" b="1"/>
          </a:p>
          <a:p>
            <a:pPr marL="0" lvl="0" indent="0" algn="l" rtl="0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endParaRPr sz="1600" b="1"/>
          </a:p>
        </p:txBody>
      </p:sp>
      <p:sp>
        <p:nvSpPr>
          <p:cNvPr id="153" name="Google Shape;153;g3b86deca15b_0_27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3b86deca15b_0_27" descr="Et billede, der indeholder plastik/plast, container&#10;&#10;AI-genereret indhold kan være ukorrek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b86deca15b_0_27"/>
          <p:cNvSpPr/>
          <p:nvPr/>
        </p:nvSpPr>
        <p:spPr>
          <a:xfrm>
            <a:off x="5539620" y="4194840"/>
            <a:ext cx="2109900" cy="1281600"/>
          </a:xfrm>
          <a:prstGeom prst="ellipse">
            <a:avLst/>
          </a:prstGeom>
          <a:noFill/>
          <a:ln w="76200" cap="flat" cmpd="sng">
            <a:solidFill>
              <a:srgbClr val="6D92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b86deca15b_0_27"/>
          <p:cNvSpPr/>
          <p:nvPr/>
        </p:nvSpPr>
        <p:spPr>
          <a:xfrm>
            <a:off x="7559354" y="5403450"/>
            <a:ext cx="2109900" cy="1281600"/>
          </a:xfrm>
          <a:prstGeom prst="ellipse">
            <a:avLst/>
          </a:prstGeom>
          <a:noFill/>
          <a:ln w="76200" cap="flat" cmpd="sng">
            <a:solidFill>
              <a:srgbClr val="6D92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7" name="Google Shape;157;g3b86deca15b_0_27" descr="RG2 Grip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2975" y="6091825"/>
            <a:ext cx="585701" cy="63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8f340af85_1_48"/>
          <p:cNvSpPr txBox="1">
            <a:spLocks noGrp="1"/>
          </p:cNvSpPr>
          <p:nvPr>
            <p:ph type="title"/>
          </p:nvPr>
        </p:nvSpPr>
        <p:spPr>
          <a:xfrm>
            <a:off x="397600" y="2758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400"/>
              </a:spcBef>
              <a:spcAft>
                <a:spcPts val="11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Domain / Inventory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b8f340af85_1_48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g3b8f340af85_1_48" descr="Et billede, der indeholder plastik/plast, container&#10;&#10;AI-genereret indhold kan være ukorrek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b8f340af85_1_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552" y="4072972"/>
            <a:ext cx="10648801" cy="281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b8f340af85_1_48"/>
          <p:cNvSpPr txBox="1"/>
          <p:nvPr/>
        </p:nvSpPr>
        <p:spPr>
          <a:xfrm>
            <a:off x="4717125" y="1900725"/>
            <a:ext cx="4551000" cy="1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167" name="Google Shape;167;g3b8f340af85_1_48"/>
          <p:cNvSpPr txBox="1"/>
          <p:nvPr/>
        </p:nvSpPr>
        <p:spPr>
          <a:xfrm>
            <a:off x="469045" y="903900"/>
            <a:ext cx="11574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</a:rPr>
              <a:t>OrderBook &amp; Order States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Central production flow controller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</a:rPr>
              <a:t>Two states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Queued Orders (pending)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Processed Orders (completed)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</a:rPr>
              <a:t>Characteristics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Operator choice:</a:t>
            </a:r>
            <a:r>
              <a:rPr lang="en-US" sz="1600">
                <a:solidFill>
                  <a:schemeClr val="dk1"/>
                </a:solidFill>
              </a:rPr>
              <a:t> the GUI lets the operator </a:t>
            </a:r>
            <a:r>
              <a:rPr lang="en-US" sz="1600" i="1">
                <a:solidFill>
                  <a:schemeClr val="dk1"/>
                </a:solidFill>
              </a:rPr>
              <a:t>compose</a:t>
            </a:r>
            <a:r>
              <a:rPr lang="en-US" sz="1600">
                <a:solidFill>
                  <a:schemeClr val="dk1"/>
                </a:solidFill>
              </a:rPr>
              <a:t> an order (White/Black shell lines) and submit it.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Queue rule:</a:t>
            </a:r>
            <a:r>
              <a:rPr lang="en-US" sz="1600">
                <a:solidFill>
                  <a:schemeClr val="dk1"/>
                </a:solidFill>
              </a:rPr>
              <a:t> once submitted, orders are </a:t>
            </a:r>
            <a:r>
              <a:rPr lang="en-US" sz="1600" b="1">
                <a:solidFill>
                  <a:schemeClr val="dk1"/>
                </a:solidFill>
              </a:rPr>
              <a:t>queued</a:t>
            </a:r>
            <a:r>
              <a:rPr lang="en-US" sz="1600">
                <a:solidFill>
                  <a:schemeClr val="dk1"/>
                </a:solidFill>
              </a:rPr>
              <a:t> and executed </a:t>
            </a:r>
            <a:r>
              <a:rPr lang="en-US" sz="1600" b="1">
                <a:solidFill>
                  <a:schemeClr val="dk1"/>
                </a:solidFill>
              </a:rPr>
              <a:t>FIFO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Traceability:</a:t>
            </a:r>
            <a:r>
              <a:rPr lang="en-US" sz="1600">
                <a:solidFill>
                  <a:schemeClr val="dk1"/>
                </a:solidFill>
              </a:rPr>
              <a:t> queue/processed state is stored in the database (single source of truth).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8" name="Google Shape;168;g3b8f340af85_1_48"/>
          <p:cNvSpPr/>
          <p:nvPr/>
        </p:nvSpPr>
        <p:spPr>
          <a:xfrm>
            <a:off x="57804" y="4422696"/>
            <a:ext cx="3743100" cy="1554900"/>
          </a:xfrm>
          <a:prstGeom prst="ellipse">
            <a:avLst/>
          </a:prstGeom>
          <a:noFill/>
          <a:ln w="76200" cap="flat" cmpd="sng">
            <a:solidFill>
              <a:srgbClr val="6D92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" name="Google Shape;169;g3b8f340af85_1_48" descr="RG2 Grip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2975" y="6091825"/>
            <a:ext cx="585701" cy="63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b8f340af85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262" y="3723304"/>
            <a:ext cx="10648801" cy="281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b8f340af85_0_29"/>
          <p:cNvSpPr txBox="1">
            <a:spLocks noGrp="1"/>
          </p:cNvSpPr>
          <p:nvPr>
            <p:ph type="title"/>
          </p:nvPr>
        </p:nvSpPr>
        <p:spPr>
          <a:xfrm>
            <a:off x="397600" y="2758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400"/>
              </a:spcBef>
              <a:spcAft>
                <a:spcPts val="11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Domain / Inventory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b8f340af85_0_29"/>
          <p:cNvSpPr txBox="1">
            <a:spLocks noGrp="1"/>
          </p:cNvSpPr>
          <p:nvPr>
            <p:ph type="body" idx="1"/>
          </p:nvPr>
        </p:nvSpPr>
        <p:spPr>
          <a:xfrm>
            <a:off x="507625" y="1039375"/>
            <a:ext cx="5811300" cy="519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600" b="1"/>
              <a:t>Design Rationale</a:t>
            </a:r>
            <a:endParaRPr sz="1600" b="1"/>
          </a:p>
          <a:p>
            <a:pPr marL="457200" lvl="0" indent="-3302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Domain logic isolated from UI and robot execution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Operator control improves transparency, safety, and testing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Deterministic execution with option for future automation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600" b="1"/>
              <a:t>Result:</a:t>
            </a:r>
            <a:br>
              <a:rPr lang="en-US" sz="1600" b="1"/>
            </a:br>
            <a:r>
              <a:rPr lang="en-US" sz="1600"/>
              <a:t>A simplified but realistic production control model combining</a:t>
            </a:r>
            <a:br>
              <a:rPr lang="en-US" sz="1600"/>
            </a:br>
            <a:r>
              <a:rPr lang="en-US" sz="1600" b="1"/>
              <a:t>human supervision + data-driven automation</a:t>
            </a:r>
            <a:endParaRPr sz="1600"/>
          </a:p>
          <a:p>
            <a:pPr marL="0" lvl="0" indent="0" algn="l" rtl="0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1600" b="1"/>
          </a:p>
        </p:txBody>
      </p:sp>
      <p:sp>
        <p:nvSpPr>
          <p:cNvPr id="177" name="Google Shape;177;g3b8f340af85_0_29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g3b8f340af85_0_29" descr="Et billede, der indeholder plastik/plast, container&#10;&#10;AI-genereret indhold kan være ukorrek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b8f340af85_0_29"/>
          <p:cNvSpPr txBox="1"/>
          <p:nvPr/>
        </p:nvSpPr>
        <p:spPr>
          <a:xfrm>
            <a:off x="6318925" y="1039375"/>
            <a:ext cx="56421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</a:rPr>
              <a:t>Order Model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Order</a:t>
            </a:r>
            <a:r>
              <a:rPr lang="en-US" sz="1600">
                <a:solidFill>
                  <a:schemeClr val="dk1"/>
                </a:solidFill>
              </a:rPr>
              <a:t> = timestamp + list of </a:t>
            </a:r>
            <a:r>
              <a:rPr lang="en-US" sz="1600" b="1">
                <a:solidFill>
                  <a:schemeClr val="dk1"/>
                </a:solidFill>
              </a:rPr>
              <a:t>OrderLines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OrderLine</a:t>
            </a:r>
            <a:r>
              <a:rPr lang="en-US" sz="1600">
                <a:solidFill>
                  <a:schemeClr val="dk1"/>
                </a:solidFill>
              </a:rPr>
              <a:t> = item + quantity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Supports multi-item orders and future product expansion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</a:rPr>
              <a:t>Technical Example:</a:t>
            </a:r>
            <a:r>
              <a:rPr lang="en-US" sz="1600">
                <a:solidFill>
                  <a:schemeClr val="dk1"/>
                </a:solidFill>
              </a:rPr>
              <a:t> Process Next Order -&gt; Boolean (order queued condition)-&gt; if else (stop or continue) -&gt; Loop (based on quantity). Strings for items (reference text)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80" name="Google Shape;180;g3b8f340af85_0_29"/>
          <p:cNvSpPr/>
          <p:nvPr/>
        </p:nvSpPr>
        <p:spPr>
          <a:xfrm>
            <a:off x="5723211" y="4923354"/>
            <a:ext cx="2353200" cy="1612500"/>
          </a:xfrm>
          <a:prstGeom prst="ellipse">
            <a:avLst/>
          </a:prstGeom>
          <a:noFill/>
          <a:ln w="76200" cap="flat" cmpd="sng">
            <a:solidFill>
              <a:srgbClr val="6D92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1" name="Google Shape;181;g3b8f340af85_0_29" descr="RG2 Grip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2975" y="6091825"/>
            <a:ext cx="585701" cy="63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86deca15b_1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400"/>
              </a:spcBef>
              <a:spcAft>
                <a:spcPts val="11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Database Design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b86deca15b_1_0"/>
          <p:cNvSpPr txBox="1">
            <a:spLocks noGrp="1"/>
          </p:cNvSpPr>
          <p:nvPr>
            <p:ph type="body" idx="1"/>
          </p:nvPr>
        </p:nvSpPr>
        <p:spPr>
          <a:xfrm>
            <a:off x="559150" y="1536633"/>
            <a:ext cx="113607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1"/>
              <a:t>Database Technology and Access</a:t>
            </a:r>
            <a:endParaRPr sz="1600" b="1"/>
          </a:p>
          <a:p>
            <a:pPr marL="457200" lvl="0" indent="-33020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Ensures consistency between GUI, Application logic</a:t>
            </a:r>
            <a:endParaRPr sz="1600"/>
          </a:p>
          <a:p>
            <a:pPr marL="457200" lvl="0" indent="-3302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and physical robot execution.</a:t>
            </a:r>
            <a:endParaRPr sz="1600"/>
          </a:p>
          <a:p>
            <a:pPr marL="457200" lvl="0" indent="-3302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SQLite</a:t>
            </a:r>
            <a:endParaRPr sz="1600"/>
          </a:p>
          <a:p>
            <a:pPr marL="457200" lvl="0" indent="-3302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Operator controlled system (Human vs full automation)</a:t>
            </a:r>
            <a:endParaRPr sz="1600"/>
          </a:p>
          <a:p>
            <a:pPr marL="457200" marR="3810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Entity Framework Core to persist production state </a:t>
            </a:r>
            <a:endParaRPr sz="1600"/>
          </a:p>
          <a:p>
            <a:pPr marL="457200" marR="3810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Seeding &amp; Reset</a:t>
            </a:r>
            <a:endParaRPr sz="1600"/>
          </a:p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g3b86deca15b_1_0" descr="RG2 Gripp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b86deca15b_1_0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g3b86deca15b_1_0" descr="Et billede, der indeholder plastik/plast, container&#10;&#10;AI-genereret indhold kan være ukorrek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b86deca15b_1_0"/>
          <p:cNvSpPr txBox="1"/>
          <p:nvPr/>
        </p:nvSpPr>
        <p:spPr>
          <a:xfrm>
            <a:off x="6359075" y="1536625"/>
            <a:ext cx="5230200" cy="3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</a:rPr>
              <a:t>Data Flow &amp; Consistency</a:t>
            </a:r>
            <a:endParaRPr sz="1600" b="1">
              <a:solidFill>
                <a:schemeClr val="dk1"/>
              </a:solidFill>
            </a:endParaRPr>
          </a:p>
          <a:p>
            <a:pPr marL="457200" marR="3810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All orders, inventory data, and production state are stored in the database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marR="3810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Application logic reads this data and translates it into robot motion sequences.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92" name="Google Shape;192;g3b86deca15b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162" y="3663450"/>
            <a:ext cx="10511475" cy="6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b86deca15b_0_32" title="Skærmbillede 2026-01-19 kl. 10.26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3900" y="2810560"/>
            <a:ext cx="12014775" cy="3485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b86deca15b_0_32" descr="RG2 Grip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b86deca15b_0_3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1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Security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b86deca15b_0_32"/>
          <p:cNvSpPr txBox="1">
            <a:spLocks noGrp="1"/>
          </p:cNvSpPr>
          <p:nvPr>
            <p:ph type="body" idx="1"/>
          </p:nvPr>
        </p:nvSpPr>
        <p:spPr>
          <a:xfrm>
            <a:off x="415600" y="1536625"/>
            <a:ext cx="4522800" cy="251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/>
              <a:t>Login feature</a:t>
            </a:r>
            <a:endParaRPr sz="1600" b="1"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Database controlled 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Has multiple verification levels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Does Username exist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Is password correct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Creates a session for the logged in user</a:t>
            </a:r>
            <a:endParaRPr sz="1600"/>
          </a:p>
        </p:txBody>
      </p:sp>
      <p:sp>
        <p:nvSpPr>
          <p:cNvPr id="201" name="Google Shape;201;g3b86deca15b_0_32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g3b86deca15b_0_32" descr="Et billede, der indeholder plastik/plast, container&#10;&#10;AI-genereret indhold kan være ukorrek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b86deca15b_0_32"/>
          <p:cNvSpPr txBox="1">
            <a:spLocks noGrp="1"/>
          </p:cNvSpPr>
          <p:nvPr>
            <p:ph type="body" idx="1"/>
          </p:nvPr>
        </p:nvSpPr>
        <p:spPr>
          <a:xfrm>
            <a:off x="5396350" y="1536625"/>
            <a:ext cx="45228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/>
              <a:t>Password Salting</a:t>
            </a:r>
            <a:endParaRPr sz="1600" b="1"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The system uses salting in database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Protects against precomputed attacks like Rainbow table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3b8f1cd1e88_0_2" title="Skærmbillede 2026-01-19 kl. 10.33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100" y="2729250"/>
            <a:ext cx="11539999" cy="404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b8f1cd1e88_0_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1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Security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b8f1cd1e88_0_2"/>
          <p:cNvSpPr txBox="1">
            <a:spLocks noGrp="1"/>
          </p:cNvSpPr>
          <p:nvPr>
            <p:ph type="body" idx="1"/>
          </p:nvPr>
        </p:nvSpPr>
        <p:spPr>
          <a:xfrm>
            <a:off x="415600" y="1536625"/>
            <a:ext cx="4077600" cy="175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/>
              <a:t>Create User (Admin)</a:t>
            </a:r>
            <a:endParaRPr sz="1600" b="1"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Create new user is limited to admins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Account requirements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Username length =&gt; 3?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Password length =&gt; 4?</a:t>
            </a:r>
            <a:endParaRPr sz="1600"/>
          </a:p>
        </p:txBody>
      </p:sp>
      <p:pic>
        <p:nvPicPr>
          <p:cNvPr id="211" name="Google Shape;211;g3b8f1cd1e88_0_2" descr="RG2 Grip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b8f1cd1e88_0_2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g3b8f1cd1e88_0_2" descr="Et billede, der indeholder plastik/plast, container&#10;&#10;AI-genereret indhold kan være ukorrek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b8f1cd1e88_0_2"/>
          <p:cNvSpPr txBox="1"/>
          <p:nvPr/>
        </p:nvSpPr>
        <p:spPr>
          <a:xfrm>
            <a:off x="5383468" y="2048086"/>
            <a:ext cx="4882500" cy="8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Option to make admin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Creates account in database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15" name="Google Shape;215;g3b8f1cd1e88_0_2" title="Skærmbillede 2026-01-20 kl. 09.56.23.png"/>
          <p:cNvPicPr preferRelativeResize="0"/>
          <p:nvPr/>
        </p:nvPicPr>
        <p:blipFill rotWithShape="1">
          <a:blip r:embed="rId6">
            <a:alphaModFix/>
          </a:blip>
          <a:srcRect l="9387"/>
          <a:stretch/>
        </p:blipFill>
        <p:spPr>
          <a:xfrm>
            <a:off x="4423625" y="875125"/>
            <a:ext cx="1599725" cy="61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6" name="Google Shape;216;g3b8f1cd1e88_0_2" title="Skærmbillede 2026-01-20 kl. 09.56.50.png"/>
          <p:cNvPicPr preferRelativeResize="0"/>
          <p:nvPr/>
        </p:nvPicPr>
        <p:blipFill rotWithShape="1">
          <a:blip r:embed="rId7">
            <a:alphaModFix/>
          </a:blip>
          <a:srcRect l="3827"/>
          <a:stretch/>
        </p:blipFill>
        <p:spPr>
          <a:xfrm>
            <a:off x="6504487" y="875125"/>
            <a:ext cx="3355512" cy="61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7" name="Google Shape;217;g3b8f1cd1e88_0_2"/>
          <p:cNvSpPr txBox="1"/>
          <p:nvPr/>
        </p:nvSpPr>
        <p:spPr>
          <a:xfrm>
            <a:off x="6968350" y="429925"/>
            <a:ext cx="22944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Admin User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218" name="Google Shape;218;g3b8f1cd1e88_0_2"/>
          <p:cNvSpPr txBox="1"/>
          <p:nvPr/>
        </p:nvSpPr>
        <p:spPr>
          <a:xfrm>
            <a:off x="4076288" y="429925"/>
            <a:ext cx="22944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User</a:t>
            </a: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g3b86deca15b_0_17" title="Skærmbillede 2026-01-19 kl. 11.01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943" y="3282925"/>
            <a:ext cx="10131407" cy="357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b86deca15b_0_17" descr="RG2 Grip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b86deca15b_0_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1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GUI and ViewModel (MVVM) 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b86deca15b_0_17"/>
          <p:cNvSpPr txBox="1">
            <a:spLocks noGrp="1"/>
          </p:cNvSpPr>
          <p:nvPr>
            <p:ph type="body" idx="1"/>
          </p:nvPr>
        </p:nvSpPr>
        <p:spPr>
          <a:xfrm>
            <a:off x="415600" y="1244500"/>
            <a:ext cx="9252300" cy="414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i="1"/>
              <a:t>Interactive GUI able to both create orders and process orders.</a:t>
            </a:r>
            <a:endParaRPr sz="1600"/>
          </a:p>
        </p:txBody>
      </p:sp>
      <p:sp>
        <p:nvSpPr>
          <p:cNvPr id="227" name="Google Shape;227;g3b86deca15b_0_17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g3b86deca15b_0_17" descr="Et billede, der indeholder plastik/plast, container&#10;&#10;AI-genereret indhold kan være ukorrek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b86deca15b_0_17"/>
          <p:cNvSpPr txBox="1">
            <a:spLocks noGrp="1"/>
          </p:cNvSpPr>
          <p:nvPr>
            <p:ph type="body" idx="1"/>
          </p:nvPr>
        </p:nvSpPr>
        <p:spPr>
          <a:xfrm>
            <a:off x="415600" y="1814025"/>
            <a:ext cx="5385300" cy="251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/>
              <a:t>Create order</a:t>
            </a:r>
            <a:endParaRPr sz="1600" b="1"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User able to select both item and quantity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The order is first validated by the system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Database stores as a queued order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Database becomes single source of truth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g3b8f1cd1e88_0_19" descr="RG2 Gripp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b8f1cd1e88_0_19" title="Skærmbillede 2026-01-19 kl. 11.04.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5025" y="3829975"/>
            <a:ext cx="10155675" cy="268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b8f1cd1e88_0_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1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GUI and ViewModel (MVVM) 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b8f1cd1e88_0_19"/>
          <p:cNvSpPr txBox="1">
            <a:spLocks noGrp="1"/>
          </p:cNvSpPr>
          <p:nvPr>
            <p:ph type="body" idx="1"/>
          </p:nvPr>
        </p:nvSpPr>
        <p:spPr>
          <a:xfrm>
            <a:off x="415600" y="1244500"/>
            <a:ext cx="9252300" cy="414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i="1"/>
              <a:t>Interactive GUI able to both create orders and process orders.</a:t>
            </a:r>
            <a:endParaRPr sz="1600"/>
          </a:p>
        </p:txBody>
      </p:sp>
      <p:sp>
        <p:nvSpPr>
          <p:cNvPr id="238" name="Google Shape;238;g3b8f1cd1e88_0_19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g3b8f1cd1e88_0_19" descr="Et billede, der indeholder plastik/plast, container&#10;&#10;AI-genereret indhold kan være ukorrek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b8f1cd1e88_0_19"/>
          <p:cNvSpPr txBox="1">
            <a:spLocks noGrp="1"/>
          </p:cNvSpPr>
          <p:nvPr>
            <p:ph type="body" idx="1"/>
          </p:nvPr>
        </p:nvSpPr>
        <p:spPr>
          <a:xfrm>
            <a:off x="415600" y="1814025"/>
            <a:ext cx="5218200" cy="278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/>
              <a:t>Process order</a:t>
            </a:r>
            <a:endParaRPr sz="1600" b="1"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 i="1"/>
              <a:t>Process Next Order</a:t>
            </a:r>
            <a:r>
              <a:rPr lang="en-US" sz="1600"/>
              <a:t> retrieves oldest queued order in database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The order is translated to the robot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When robot is done - Database is updated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Inventory updated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Queued → Processed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Continuous status messages are displayed to inform the operator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g3b86deca15b_0_22" descr="RG2 Gripp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b86deca15b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1925" y="2165325"/>
            <a:ext cx="6051861" cy="474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b86deca15b_0_2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1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Robot Integration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b86deca15b_0_22"/>
          <p:cNvSpPr txBox="1">
            <a:spLocks noGrp="1"/>
          </p:cNvSpPr>
          <p:nvPr>
            <p:ph type="body" idx="1"/>
          </p:nvPr>
        </p:nvSpPr>
        <p:spPr>
          <a:xfrm>
            <a:off x="922000" y="1356875"/>
            <a:ext cx="7023600" cy="227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Database driven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Orders created in GUI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Stored in Database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Communicating via </a:t>
            </a:r>
            <a:endParaRPr sz="1600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/>
              <a:t>URScript → TCP/IP → Ethernet → Robot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Connects to URSim &amp; real robot</a:t>
            </a:r>
            <a:endParaRPr sz="1600"/>
          </a:p>
        </p:txBody>
      </p:sp>
      <p:sp>
        <p:nvSpPr>
          <p:cNvPr id="249" name="Google Shape;249;g3b86deca15b_0_22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g3b86deca15b_0_22" descr="Et billede, der indeholder plastik/plast, container&#10;&#10;AI-genereret indhold kan være ukorrek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b86deca15b_0_22"/>
          <p:cNvSpPr/>
          <p:nvPr/>
        </p:nvSpPr>
        <p:spPr>
          <a:xfrm>
            <a:off x="7363695" y="1564888"/>
            <a:ext cx="831600" cy="385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Database</a:t>
            </a:r>
            <a:endParaRPr sz="1000"/>
          </a:p>
        </p:txBody>
      </p:sp>
      <p:sp>
        <p:nvSpPr>
          <p:cNvPr id="252" name="Google Shape;252;g3b86deca15b_0_22"/>
          <p:cNvSpPr/>
          <p:nvPr/>
        </p:nvSpPr>
        <p:spPr>
          <a:xfrm>
            <a:off x="6134309" y="593375"/>
            <a:ext cx="831600" cy="385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/>
              <a:t>GUI</a:t>
            </a:r>
            <a:endParaRPr sz="1000" b="1"/>
          </a:p>
        </p:txBody>
      </p:sp>
      <p:sp>
        <p:nvSpPr>
          <p:cNvPr id="253" name="Google Shape;253;g3b86deca15b_0_22"/>
          <p:cNvSpPr/>
          <p:nvPr/>
        </p:nvSpPr>
        <p:spPr>
          <a:xfrm>
            <a:off x="8828504" y="1564900"/>
            <a:ext cx="831600" cy="385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/>
              <a:t>URSim</a:t>
            </a:r>
            <a:endParaRPr sz="1000" b="1"/>
          </a:p>
        </p:txBody>
      </p:sp>
      <p:cxnSp>
        <p:nvCxnSpPr>
          <p:cNvPr id="254" name="Google Shape;254;g3b86deca15b_0_22"/>
          <p:cNvCxnSpPr>
            <a:stCxn id="252" idx="2"/>
            <a:endCxn id="251" idx="1"/>
          </p:cNvCxnSpPr>
          <p:nvPr/>
        </p:nvCxnSpPr>
        <p:spPr>
          <a:xfrm>
            <a:off x="6550109" y="979175"/>
            <a:ext cx="813600" cy="778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5" name="Google Shape;255;g3b86deca15b_0_22"/>
          <p:cNvCxnSpPr>
            <a:endCxn id="253" idx="1"/>
          </p:cNvCxnSpPr>
          <p:nvPr/>
        </p:nvCxnSpPr>
        <p:spPr>
          <a:xfrm rot="10800000" flipH="1">
            <a:off x="8198204" y="1757800"/>
            <a:ext cx="630300" cy="6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6" name="Google Shape;256;g3b86deca15b_0_22"/>
          <p:cNvCxnSpPr>
            <a:stCxn id="251" idx="2"/>
          </p:cNvCxnSpPr>
          <p:nvPr/>
        </p:nvCxnSpPr>
        <p:spPr>
          <a:xfrm>
            <a:off x="7779495" y="1950688"/>
            <a:ext cx="442800" cy="1055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7" name="Google Shape;257;g3b86deca15b_0_22"/>
          <p:cNvSpPr txBox="1"/>
          <p:nvPr/>
        </p:nvSpPr>
        <p:spPr>
          <a:xfrm>
            <a:off x="2350250" y="3687850"/>
            <a:ext cx="4461300" cy="25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Positioning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Start position (</a:t>
            </a:r>
            <a:r>
              <a:rPr lang="en-US" sz="1600" u="sng">
                <a:solidFill>
                  <a:schemeClr val="dk1"/>
                </a:solidFill>
              </a:rPr>
              <a:t>T</a:t>
            </a:r>
            <a:r>
              <a:rPr lang="en-US" sz="1600">
                <a:solidFill>
                  <a:schemeClr val="dk1"/>
                </a:solidFill>
              </a:rPr>
              <a:t>ool </a:t>
            </a:r>
            <a:r>
              <a:rPr lang="en-US" sz="1600" u="sng">
                <a:solidFill>
                  <a:schemeClr val="dk1"/>
                </a:solidFill>
              </a:rPr>
              <a:t>C</a:t>
            </a:r>
            <a:r>
              <a:rPr lang="en-US" sz="1600">
                <a:solidFill>
                  <a:schemeClr val="dk1"/>
                </a:solidFill>
              </a:rPr>
              <a:t>enter </a:t>
            </a:r>
            <a:r>
              <a:rPr lang="en-US" sz="1600" u="sng">
                <a:solidFill>
                  <a:schemeClr val="dk1"/>
                </a:solidFill>
              </a:rPr>
              <a:t>P</a:t>
            </a:r>
            <a:r>
              <a:rPr lang="en-US" sz="1600">
                <a:solidFill>
                  <a:schemeClr val="dk1"/>
                </a:solidFill>
              </a:rPr>
              <a:t>oint)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X =		0.125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Y =      -	0.300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Z =		0.100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Start rotation (</a:t>
            </a:r>
            <a:r>
              <a:rPr lang="en-US" sz="1600" u="sng">
                <a:solidFill>
                  <a:schemeClr val="dk1"/>
                </a:solidFill>
              </a:rPr>
              <a:t>T</a:t>
            </a:r>
            <a:r>
              <a:rPr lang="en-US" sz="1600">
                <a:solidFill>
                  <a:schemeClr val="dk1"/>
                </a:solidFill>
              </a:rPr>
              <a:t>ool </a:t>
            </a:r>
            <a:r>
              <a:rPr lang="en-US" sz="1600" u="sng">
                <a:solidFill>
                  <a:schemeClr val="dk1"/>
                </a:solidFill>
              </a:rPr>
              <a:t>C</a:t>
            </a:r>
            <a:r>
              <a:rPr lang="en-US" sz="1600">
                <a:solidFill>
                  <a:schemeClr val="dk1"/>
                </a:solidFill>
              </a:rPr>
              <a:t>enter </a:t>
            </a:r>
            <a:r>
              <a:rPr lang="en-US" sz="1600" u="sng">
                <a:solidFill>
                  <a:schemeClr val="dk1"/>
                </a:solidFill>
              </a:rPr>
              <a:t>P</a:t>
            </a:r>
            <a:r>
              <a:rPr lang="en-US" sz="1600">
                <a:solidFill>
                  <a:schemeClr val="dk1"/>
                </a:solidFill>
              </a:rPr>
              <a:t>oint)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RX =	3.14 (180° nedad)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RY =   	0.00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RZ =	0.00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8f340af85_1_1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1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Robot Integration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b8f340af85_1_10"/>
          <p:cNvSpPr txBox="1">
            <a:spLocks noGrp="1"/>
          </p:cNvSpPr>
          <p:nvPr>
            <p:ph type="body" idx="1"/>
          </p:nvPr>
        </p:nvSpPr>
        <p:spPr>
          <a:xfrm>
            <a:off x="922000" y="1356875"/>
            <a:ext cx="70236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Robot motion structure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Determined motion from A→E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Using Move L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Pick &amp; place - Height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Gripper - RG2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600"/>
              <a:t>open_mm       	= 60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600"/>
              <a:t>open_pick_mm= 85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600"/>
              <a:t>close_mm      	= 31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600"/>
              <a:t>f_open        	= 30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600"/>
              <a:t>f_close       	= 30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Predefined predictable sequences</a:t>
            </a:r>
            <a:endParaRPr sz="1600"/>
          </a:p>
        </p:txBody>
      </p:sp>
      <p:pic>
        <p:nvPicPr>
          <p:cNvPr id="264" name="Google Shape;264;g3b8f340af85_1_10" descr="RG2 Gripp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b8f340af85_1_10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g3b8f340af85_1_10" descr="Et billede, der indeholder plastik/plast, container&#10;&#10;AI-genereret indhold kan være ukorrek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b8f340af85_1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5425" y="2109950"/>
            <a:ext cx="4535567" cy="45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g3b86deca15b_1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182" y="3838049"/>
            <a:ext cx="10333711" cy="24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b86deca15b_1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1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Sensor (Safety)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b86deca15b_1_16"/>
          <p:cNvSpPr txBox="1">
            <a:spLocks noGrp="1"/>
          </p:cNvSpPr>
          <p:nvPr>
            <p:ph type="body" idx="1"/>
          </p:nvPr>
        </p:nvSpPr>
        <p:spPr>
          <a:xfrm>
            <a:off x="909950" y="1356875"/>
            <a:ext cx="5600700" cy="489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Why safety is needed?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Due to human interaction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Error minimizing in production loop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Sensor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Photoelectric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Detects products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Signals robot to wait or proceed</a:t>
            </a:r>
            <a:br>
              <a:rPr lang="en-US" sz="1600"/>
            </a:b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Uses robot logic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75" name="Google Shape;275;g3b86deca15b_1_16" descr="RG2 Gripper"/>
          <p:cNvPicPr preferRelativeResize="0"/>
          <p:nvPr/>
        </p:nvPicPr>
        <p:blipFill rotWithShape="1">
          <a:blip r:embed="rId4">
            <a:alphaModFix/>
          </a:blip>
          <a:srcRect r="13262"/>
          <a:stretch/>
        </p:blipFill>
        <p:spPr>
          <a:xfrm>
            <a:off x="0" y="4782450"/>
            <a:ext cx="1661850" cy="207555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b86deca15b_1_16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g3b86deca15b_1_16" descr="Et billede, der indeholder plastik/plast, container&#10;&#10;AI-genereret indhold kan være ukorrek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b86deca15b_0_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1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Discussion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g3b86deca15b_0_7" descr="RG2 Gripp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b86deca15b_0_7"/>
          <p:cNvSpPr txBox="1">
            <a:spLocks noGrp="1"/>
          </p:cNvSpPr>
          <p:nvPr>
            <p:ph type="body" idx="1"/>
          </p:nvPr>
        </p:nvSpPr>
        <p:spPr>
          <a:xfrm>
            <a:off x="924800" y="1356875"/>
            <a:ext cx="56877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/>
              <a:t>What worked well</a:t>
            </a:r>
            <a:endParaRPr sz="1600" b="1"/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Easy operator-controlling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Stable robot communication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Predictable robot behavior </a:t>
            </a:r>
            <a:br>
              <a:rPr lang="en-US" sz="1600"/>
            </a:br>
            <a:r>
              <a:rPr lang="en-US" sz="1600"/>
              <a:t>due to fixed positions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Clear separation between GUI, </a:t>
            </a:r>
            <a:br>
              <a:rPr lang="en-US" sz="1600"/>
            </a:br>
            <a:r>
              <a:rPr lang="en-US" sz="1600"/>
              <a:t>database, and robot logic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Easy testing using URSim</a:t>
            </a:r>
            <a:endParaRPr sz="1600"/>
          </a:p>
        </p:txBody>
      </p:sp>
      <p:sp>
        <p:nvSpPr>
          <p:cNvPr id="285" name="Google Shape;285;g3b86deca15b_0_7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g3b86deca15b_0_7" descr="Et billede, der indeholder plastik/plast, container&#10;&#10;AI-genereret indhold kan være ukorrek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b86deca15b_0_7"/>
          <p:cNvSpPr txBox="1">
            <a:spLocks noGrp="1"/>
          </p:cNvSpPr>
          <p:nvPr>
            <p:ph type="body" idx="1"/>
          </p:nvPr>
        </p:nvSpPr>
        <p:spPr>
          <a:xfrm>
            <a:off x="5985125" y="1356874"/>
            <a:ext cx="5673300" cy="519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/>
              <a:t>Challenges</a:t>
            </a: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Robot calibration required significant testing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Fixed positions reduce flexibility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System relies on operator-controlling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/>
              <a:t>Trade-offs</a:t>
            </a:r>
            <a:endParaRPr sz="1600" b="1"/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Manual operator control chosen over full automation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Fixed positions instead of vision system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Safety prioritized over production</a:t>
            </a:r>
            <a:endParaRPr sz="16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86deca15b_1_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1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Solution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g3b86deca15b_1_8" descr="RG2 Gripp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b86deca15b_1_8"/>
          <p:cNvSpPr txBox="1">
            <a:spLocks noGrp="1"/>
          </p:cNvSpPr>
          <p:nvPr>
            <p:ph type="body" idx="1"/>
          </p:nvPr>
        </p:nvSpPr>
        <p:spPr>
          <a:xfrm>
            <a:off x="924800" y="1356875"/>
            <a:ext cx="36993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Functional automated assembly prototype with human interaction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End-to-end digital flow: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GUI → Database → </a:t>
            </a:r>
            <a:br>
              <a:rPr lang="en-US" sz="1600"/>
            </a:br>
            <a:r>
              <a:rPr lang="en-US" sz="1600"/>
              <a:t>Robot → Database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Modular and maintainable architecture</a:t>
            </a:r>
            <a:endParaRPr sz="1600"/>
          </a:p>
        </p:txBody>
      </p:sp>
      <p:sp>
        <p:nvSpPr>
          <p:cNvPr id="295" name="Google Shape;295;g3b86deca15b_1_8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g3b86deca15b_1_8" descr="Et billede, der indeholder plastik/plast, container&#10;&#10;AI-genereret indhold kan være ukorrek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b86deca15b_1_8"/>
          <p:cNvSpPr txBox="1">
            <a:spLocks noGrp="1"/>
          </p:cNvSpPr>
          <p:nvPr>
            <p:ph type="title"/>
          </p:nvPr>
        </p:nvSpPr>
        <p:spPr>
          <a:xfrm>
            <a:off x="5114600" y="593375"/>
            <a:ext cx="35085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1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Future implementation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b86deca15b_1_8"/>
          <p:cNvSpPr txBox="1">
            <a:spLocks noGrp="1"/>
          </p:cNvSpPr>
          <p:nvPr>
            <p:ph type="body" idx="1"/>
          </p:nvPr>
        </p:nvSpPr>
        <p:spPr>
          <a:xfrm>
            <a:off x="5114600" y="1216799"/>
            <a:ext cx="5673300" cy="519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/>
              <a:t>Minimize human interaction</a:t>
            </a:r>
            <a:endParaRPr sz="1600" b="1"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Robot automatically replenish A, B &amp; C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Conveyor belt moves finished product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Machine vision senses location/size</a:t>
            </a:r>
            <a:endParaRPr sz="1600"/>
          </a:p>
        </p:txBody>
      </p:sp>
      <p:pic>
        <p:nvPicPr>
          <p:cNvPr id="299" name="Google Shape;299;g3b86deca15b_1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9975" y="3277610"/>
            <a:ext cx="5222550" cy="336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g3b86deca15b_0_37" descr="RG2 Gripper"/>
          <p:cNvPicPr preferRelativeResize="0"/>
          <p:nvPr/>
        </p:nvPicPr>
        <p:blipFill rotWithShape="1">
          <a:blip r:embed="rId3">
            <a:alphaModFix/>
          </a:blip>
          <a:srcRect l="26921" t="7552"/>
          <a:stretch/>
        </p:blipFill>
        <p:spPr>
          <a:xfrm rot="-6399600" flipH="1">
            <a:off x="6842599" y="-798746"/>
            <a:ext cx="6296776" cy="862954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b86deca15b_0_3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400"/>
              </a:spcBef>
              <a:spcAft>
                <a:spcPts val="11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Conclusion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g3b86deca15b_0_37" descr="RG2 Grip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b86deca15b_0_37"/>
          <p:cNvSpPr txBox="1">
            <a:spLocks noGrp="1"/>
          </p:cNvSpPr>
          <p:nvPr>
            <p:ph type="body" idx="1"/>
          </p:nvPr>
        </p:nvSpPr>
        <p:spPr>
          <a:xfrm>
            <a:off x="897900" y="1356875"/>
            <a:ext cx="56154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Project objectives were met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System behaves like a realistic industrial prototype</a:t>
            </a:r>
            <a:br>
              <a:rPr lang="en-US" sz="1600"/>
            </a:b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Demonstrates principles from: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Industrial programming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Industry 4.0 &amp; 5.0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Automation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Security &amp; safety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Modular software design</a:t>
            </a:r>
            <a:endParaRPr sz="1600"/>
          </a:p>
        </p:txBody>
      </p:sp>
      <p:sp>
        <p:nvSpPr>
          <p:cNvPr id="308" name="Google Shape;308;g3b86deca15b_0_37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g3b86deca15b_0_37" descr="Et billede, der indeholder plastik/plast, container&#10;&#10;AI-genereret indhold kan være ukorrek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9e909deff_0_12"/>
          <p:cNvSpPr txBox="1">
            <a:spLocks noGrp="1"/>
          </p:cNvSpPr>
          <p:nvPr>
            <p:ph type="title"/>
          </p:nvPr>
        </p:nvSpPr>
        <p:spPr>
          <a:xfrm>
            <a:off x="4616400" y="3047250"/>
            <a:ext cx="29592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400"/>
              </a:spcBef>
              <a:spcAft>
                <a:spcPts val="11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4000" b="1">
                <a:latin typeface="Arial"/>
                <a:ea typeface="Arial"/>
                <a:cs typeface="Arial"/>
                <a:sym typeface="Arial"/>
              </a:rPr>
              <a:t>Thank you!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g3b9e909deff_0_12" descr="RG2 Gripp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b9e909deff_0_12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g3b9e909deff_0_12" descr="Et billede, der indeholder plastik/plast, container&#10;&#10;AI-genereret indhold kan være ukorrek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b9e909deff_0_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2400"/>
              </a:spcBef>
              <a:spcAft>
                <a:spcPts val="11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Program overview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" name="Google Shape;323;g3b9e909deff_0_2" descr="RG2 Gripp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82457"/>
            <a:ext cx="1915886" cy="20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b9e909deff_0_2"/>
          <p:cNvSpPr/>
          <p:nvPr/>
        </p:nvSpPr>
        <p:spPr>
          <a:xfrm rot="5400000">
            <a:off x="9220811" y="122196"/>
            <a:ext cx="2859900" cy="2857800"/>
          </a:xfrm>
          <a:prstGeom prst="halfFrame">
            <a:avLst>
              <a:gd name="adj1" fmla="val 2831"/>
              <a:gd name="adj2" fmla="val 2445"/>
            </a:avLst>
          </a:prstGeom>
          <a:solidFill>
            <a:srgbClr val="6D92AF"/>
          </a:solidFill>
          <a:ln w="19050" cap="flat" cmpd="sng">
            <a:solidFill>
              <a:srgbClr val="6D92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g3b9e909deff_0_2" descr="Et billede, der indeholder plastik/plast, container&#10;&#10;AI-genereret indhold kan være ukorrek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7126" y="338195"/>
            <a:ext cx="1442966" cy="161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3b9e909deff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0308" y="58550"/>
            <a:ext cx="4893500" cy="664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</Words>
  <Application>Microsoft Office PowerPoint</Application>
  <PresentationFormat>Widescreen</PresentationFormat>
  <Paragraphs>206</Paragraphs>
  <Slides>21</Slides>
  <Notes>21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21</vt:i4>
      </vt:variant>
    </vt:vector>
  </HeadingPairs>
  <TitlesOfParts>
    <vt:vector size="25" baseType="lpstr">
      <vt:lpstr>Times New Roman</vt:lpstr>
      <vt:lpstr>Arial</vt:lpstr>
      <vt:lpstr>Play</vt:lpstr>
      <vt:lpstr>Office-tema</vt:lpstr>
      <vt:lpstr>PowerPoint-præsentation</vt:lpstr>
      <vt:lpstr>PowerPoint-præsentation</vt:lpstr>
      <vt:lpstr>Introduction / Problem (Scope)</vt:lpstr>
      <vt:lpstr>Demonstration video</vt:lpstr>
      <vt:lpstr>System Architecture</vt:lpstr>
      <vt:lpstr>Domain / Inventory</vt:lpstr>
      <vt:lpstr>Domain / Inventory</vt:lpstr>
      <vt:lpstr>Domain / Inventory</vt:lpstr>
      <vt:lpstr>Database Design</vt:lpstr>
      <vt:lpstr>Security</vt:lpstr>
      <vt:lpstr>Security</vt:lpstr>
      <vt:lpstr>GUI and ViewModel (MVVM) </vt:lpstr>
      <vt:lpstr>GUI and ViewModel (MVVM) </vt:lpstr>
      <vt:lpstr>Robot Integration</vt:lpstr>
      <vt:lpstr>Robot Integration</vt:lpstr>
      <vt:lpstr>Sensor (Safety)</vt:lpstr>
      <vt:lpstr>Discussion</vt:lpstr>
      <vt:lpstr>Solution</vt:lpstr>
      <vt:lpstr>Conclusion</vt:lpstr>
      <vt:lpstr>Thank you!</vt:lpstr>
      <vt:lpstr>Program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Lars Bach Sørensen</dc:creator>
  <cp:lastModifiedBy>Lars Bach Sørensen</cp:lastModifiedBy>
  <cp:revision>1</cp:revision>
  <dcterms:created xsi:type="dcterms:W3CDTF">2026-01-16T08:23:09Z</dcterms:created>
  <dcterms:modified xsi:type="dcterms:W3CDTF">2026-01-22T10:40:40Z</dcterms:modified>
</cp:coreProperties>
</file>