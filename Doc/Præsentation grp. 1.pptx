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6858000" cy="9144000"/>
  <p:embeddedFontLst>
    <p:embeddedFont>
      <p:font typeface="Play"/>
      <p:regular r:id="rId24"/>
      <p:bold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56">
          <p15:clr>
            <a:srgbClr val="747775"/>
          </p15:clr>
        </p15:guide>
      </p15:sldGuideLst>
    </p:ext>
    <p:ext uri="GoogleSlidesCustomDataVersion2">
      <go:slidesCustomData xmlns:go="http://customooxmlschemas.google.com/" r:id="rId26" roundtripDataSignature="AMtx7mh9ec4wqVJVUEXEgpUwgsmkBjGRx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56"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Play-regular.fntdata"/><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customschemas.google.com/relationships/presentationmetadata" Target="metadata"/><Relationship Id="rId25" Type="http://schemas.openxmlformats.org/officeDocument/2006/relationships/font" Target="fonts/Play-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b86deca15b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b86deca15b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b86deca15b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b86deca15b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b86deca15b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b86deca15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None/>
            </a:pPr>
            <a:r>
              <a:rPr lang="en-US"/>
              <a:t>This slide shows the overall system architecture of our project. The system is designed as a database-driven robot assembly system, where a PC application controls the production flow and a UR industrial robot performs the physical assembly. The architecture is split into four main layers to clearly separate responsibilities. </a:t>
            </a:r>
            <a:endParaRPr/>
          </a:p>
          <a:p>
            <a:pPr indent="0" lvl="0" marL="0" rtl="0" algn="l">
              <a:lnSpc>
                <a:spcPct val="115000"/>
              </a:lnSpc>
              <a:spcBef>
                <a:spcPts val="1200"/>
              </a:spcBef>
              <a:spcAft>
                <a:spcPts val="0"/>
              </a:spcAft>
              <a:buNone/>
            </a:pPr>
            <a:r>
              <a:rPr b="1" lang="en-US">
                <a:solidFill>
                  <a:schemeClr val="dk1"/>
                </a:solidFill>
              </a:rPr>
              <a:t>Go through the layers:</a:t>
            </a:r>
            <a:endParaRPr b="1">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a:solidFill>
                  <a:schemeClr val="dk1"/>
                </a:solidFill>
              </a:rPr>
              <a:t>GUI / Operator Station</a:t>
            </a:r>
            <a:br>
              <a:rPr b="1" lang="en-US">
                <a:solidFill>
                  <a:schemeClr val="dk1"/>
                </a:solidFill>
              </a:rPr>
            </a:br>
            <a:r>
              <a:rPr lang="en-US">
                <a:solidFill>
                  <a:schemeClr val="dk1"/>
                </a:solidFill>
              </a:rPr>
              <a:t>“The operator uses the graphical user interface to create, monitor, and process production orders.”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Application Layer (Control Logic)</a:t>
            </a:r>
            <a:br>
              <a:rPr b="1" lang="en-US">
                <a:solidFill>
                  <a:schemeClr val="dk1"/>
                </a:solidFill>
              </a:rPr>
            </a:br>
            <a:r>
              <a:rPr lang="en-US">
                <a:solidFill>
                  <a:schemeClr val="dk1"/>
                </a:solidFill>
              </a:rPr>
              <a:t>“The application layer coordinates the production flow.</a:t>
            </a:r>
            <a:br>
              <a:rPr lang="en-US">
                <a:solidFill>
                  <a:schemeClr val="dk1"/>
                </a:solidFill>
              </a:rPr>
            </a:br>
            <a:r>
              <a:rPr lang="en-US">
                <a:solidFill>
                  <a:schemeClr val="dk1"/>
                </a:solidFill>
              </a:rPr>
              <a:t>It reads the next queued order from the database, maps the order to a predefined robot sequence, sends the URScript to the robot, and updates the database after execution.”</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Data Layer (EF Core + SQLite)</a:t>
            </a:r>
            <a:br>
              <a:rPr b="1" lang="en-US">
                <a:solidFill>
                  <a:schemeClr val="dk1"/>
                </a:solidFill>
              </a:rPr>
            </a:br>
            <a:r>
              <a:rPr lang="en-US">
                <a:solidFill>
                  <a:schemeClr val="dk1"/>
                </a:solidFill>
              </a:rPr>
              <a:t>“The database stores all production data such as orders, inventory levels, and production history.</a:t>
            </a:r>
            <a:br>
              <a:rPr lang="en-US">
                <a:solidFill>
                  <a:schemeClr val="dk1"/>
                </a:solidFill>
              </a:rPr>
            </a:br>
            <a:r>
              <a:rPr lang="en-US">
                <a:solidFill>
                  <a:schemeClr val="dk1"/>
                </a:solidFill>
              </a:rPr>
              <a:t>It acts as the single source of truth for the system.”</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Robot Integration Layer</a:t>
            </a:r>
            <a:br>
              <a:rPr b="1" lang="en-US">
                <a:solidFill>
                  <a:schemeClr val="dk1"/>
                </a:solidFill>
              </a:rPr>
            </a:br>
            <a:r>
              <a:rPr lang="en-US">
                <a:solidFill>
                  <a:schemeClr val="dk1"/>
                </a:solidFill>
              </a:rPr>
              <a:t>“The robot is controlled via URScript over TCP/IP.</a:t>
            </a:r>
            <a:br>
              <a:rPr lang="en-US">
                <a:solidFill>
                  <a:schemeClr val="dk1"/>
                </a:solidFill>
              </a:rPr>
            </a:br>
            <a:r>
              <a:rPr lang="en-US">
                <a:solidFill>
                  <a:schemeClr val="dk1"/>
                </a:solidFill>
              </a:rPr>
              <a:t>All robot motions and sequences are centralized in a dedicated module, which keeps robot logic separate from UI and database logic.”</a:t>
            </a:r>
            <a:endParaRPr>
              <a:solidFill>
                <a:schemeClr val="dk1"/>
              </a:solidFill>
            </a:endParaRPr>
          </a:p>
          <a:p>
            <a:pPr indent="0" lvl="0" marL="0" rtl="0" algn="l">
              <a:lnSpc>
                <a:spcPct val="115000"/>
              </a:lnSpc>
              <a:spcBef>
                <a:spcPts val="1200"/>
              </a:spcBef>
              <a:spcAft>
                <a:spcPts val="0"/>
              </a:spcAft>
              <a:buNone/>
            </a:pPr>
            <a:r>
              <a:rPr b="1" lang="en-US">
                <a:solidFill>
                  <a:schemeClr val="dk1"/>
                </a:solidFill>
              </a:rPr>
              <a:t>Design principles (important):</a:t>
            </a:r>
            <a:r>
              <a:rPr lang="en-US">
                <a:solidFill>
                  <a:schemeClr val="dk1"/>
                </a:solidFill>
              </a:rPr>
              <a:t>This separation ensures traceability, restart-safe operation, and maintainability.</a:t>
            </a:r>
            <a:br>
              <a:rPr lang="en-US">
                <a:solidFill>
                  <a:schemeClr val="dk1"/>
                </a:solidFill>
              </a:rPr>
            </a:br>
            <a:r>
              <a:rPr lang="en-US">
                <a:solidFill>
                  <a:schemeClr val="dk1"/>
                </a:solidFill>
              </a:rPr>
              <a:t>Robot logic is fully decoupled from both the user interface and the database.”</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b86deca15b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b86deca15b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None/>
            </a:pPr>
            <a:r>
              <a:rPr lang="en-US"/>
              <a:t>The domain model defines the core business logic of the production system. It focuses on what is produced and in which order, rather than how the robot performs the physical assembly. </a:t>
            </a:r>
            <a:endParaRPr/>
          </a:p>
          <a:p>
            <a:pPr indent="0" lvl="0" marL="0" marR="381000" rtl="0" algn="l">
              <a:lnSpc>
                <a:spcPct val="115000"/>
              </a:lnSpc>
              <a:spcBef>
                <a:spcPts val="1200"/>
              </a:spcBef>
              <a:spcAft>
                <a:spcPts val="0"/>
              </a:spcAft>
              <a:buNone/>
            </a:pPr>
            <a:r>
              <a:rPr lang="en-US"/>
              <a:t>The domain model is intentionally kept independent of both the GUI and the robot logic to ensure modularity and long-term maintainability. The inventory model represents the physical components used in production, such as white shells and black shells. </a:t>
            </a:r>
            <a:endParaRPr/>
          </a:p>
          <a:p>
            <a:pPr indent="0" lvl="0" marL="0" marR="381000" rtl="0" algn="l">
              <a:lnSpc>
                <a:spcPct val="115000"/>
              </a:lnSpc>
              <a:spcBef>
                <a:spcPts val="1200"/>
              </a:spcBef>
              <a:spcAft>
                <a:spcPts val="0"/>
              </a:spcAft>
              <a:buNone/>
            </a:pPr>
            <a:r>
              <a:rPr b="1" lang="en-US"/>
              <a:t>Inventory</a:t>
            </a:r>
            <a:endParaRPr b="1"/>
          </a:p>
          <a:p>
            <a:pPr indent="0" lvl="0" marL="0" marR="381000" rtl="0" algn="l">
              <a:lnSpc>
                <a:spcPct val="115000"/>
              </a:lnSpc>
              <a:spcBef>
                <a:spcPts val="1200"/>
              </a:spcBef>
              <a:spcAft>
                <a:spcPts val="0"/>
              </a:spcAft>
              <a:buNone/>
            </a:pPr>
            <a:r>
              <a:rPr lang="en-US"/>
              <a:t>An inventory consists of a collection of items and their current quantities. Items share a common base abstraction but can be specialized, for example unit-based or bulk-based items. The inventory tracks available stock, ensures correct updates when orders are processed, and keeps stock management separate from robot control.</a:t>
            </a:r>
            <a:endParaRPr/>
          </a:p>
          <a:p>
            <a:pPr indent="0" lvl="0" marL="0" rtl="0" algn="l">
              <a:lnSpc>
                <a:spcPct val="115000"/>
              </a:lnSpc>
              <a:spcBef>
                <a:spcPts val="1800"/>
              </a:spcBef>
              <a:spcAft>
                <a:spcPts val="0"/>
              </a:spcAft>
              <a:buNone/>
            </a:pPr>
            <a:r>
              <a:rPr b="1" lang="en-US">
                <a:solidFill>
                  <a:schemeClr val="dk1"/>
                </a:solidFill>
              </a:rPr>
              <a:t>Order model</a:t>
            </a:r>
            <a:endParaRPr b="1">
              <a:solidFill>
                <a:schemeClr val="dk1"/>
              </a:solidFill>
            </a:endParaRPr>
          </a:p>
          <a:p>
            <a:pPr indent="0" lvl="0" marL="0" rtl="0" algn="l">
              <a:lnSpc>
                <a:spcPct val="115000"/>
              </a:lnSpc>
              <a:spcBef>
                <a:spcPts val="1800"/>
              </a:spcBef>
              <a:spcAft>
                <a:spcPts val="0"/>
              </a:spcAft>
              <a:buNone/>
            </a:pPr>
            <a:r>
              <a:rPr lang="en-US">
                <a:solidFill>
                  <a:schemeClr val="dk1"/>
                </a:solidFill>
              </a:rPr>
              <a:t>A production order is represented by an Order, which contains a timestamp and a list of OrderLines. Each OrderLine specifies an item and a quantity.This structure allows a single order to contain multiple components and supports future expansion to more complex products.</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b8f340af8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b8f340af8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800"/>
              </a:spcBef>
              <a:spcAft>
                <a:spcPts val="0"/>
              </a:spcAft>
              <a:buNone/>
            </a:pPr>
            <a:r>
              <a:rPr b="1" lang="en-US" sz="1000">
                <a:solidFill>
                  <a:schemeClr val="dk1"/>
                </a:solidFill>
              </a:rPr>
              <a:t>OrderBook &amp; Order States</a:t>
            </a:r>
            <a:endParaRPr b="1" sz="1000">
              <a:solidFill>
                <a:schemeClr val="dk1"/>
              </a:solidFill>
            </a:endParaRPr>
          </a:p>
          <a:p>
            <a:pPr indent="0" lvl="0" marL="0" marR="381000" rtl="0" algn="l">
              <a:lnSpc>
                <a:spcPct val="115000"/>
              </a:lnSpc>
              <a:spcBef>
                <a:spcPts val="1200"/>
              </a:spcBef>
              <a:spcAft>
                <a:spcPts val="0"/>
              </a:spcAft>
              <a:buNone/>
            </a:pPr>
            <a:r>
              <a:rPr lang="en-US">
                <a:solidFill>
                  <a:schemeClr val="dk1"/>
                </a:solidFill>
              </a:rPr>
              <a:t>Production flow is managed using an OrderBook. The OrderBook maintains two collections: queued orders and processed orders. When an order is successfully executed, it is moved from the queued collection to the processed collection. We deliberately chose operator-assisted order selection instead of a fully automatic FIFO strategy, to improve transparency, safety, and ease of testing.</a:t>
            </a:r>
            <a:endParaRPr>
              <a:solidFill>
                <a:schemeClr val="dk1"/>
              </a:solidFill>
            </a:endParaRPr>
          </a:p>
          <a:p>
            <a:pPr indent="0" lvl="0" marL="0" marR="381000" rtl="0" algn="l">
              <a:lnSpc>
                <a:spcPct val="115000"/>
              </a:lnSpc>
              <a:spcBef>
                <a:spcPts val="1200"/>
              </a:spcBef>
              <a:spcAft>
                <a:spcPts val="0"/>
              </a:spcAft>
              <a:buNone/>
            </a:pPr>
            <a:r>
              <a:rPr b="1" lang="en-US">
                <a:solidFill>
                  <a:schemeClr val="dk1"/>
                </a:solidFill>
              </a:rPr>
              <a:t>Domain Design Rationale</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The domain model was designed to be modular and decoupled from both the user interface and robot execution logic. This allows changes to the GUI or robot sequences without affecting core order and inventory logic. At the same time, the design supports deterministic execution and can later be extended to automated scheduling if required.</a:t>
            </a:r>
            <a:endParaRPr>
              <a:solidFill>
                <a:schemeClr val="dk1"/>
              </a:solidFill>
            </a:endParaRPr>
          </a:p>
          <a:p>
            <a:pPr indent="0" lvl="0" marL="0" marR="381000" rtl="0" algn="l">
              <a:lnSpc>
                <a:spcPct val="115000"/>
              </a:lnSpc>
              <a:spcBef>
                <a:spcPts val="1200"/>
              </a:spcBef>
              <a:spcAft>
                <a:spcPts val="0"/>
              </a:spcAft>
              <a:buNone/>
            </a:pPr>
            <a:r>
              <a:rPr b="1" lang="en-US">
                <a:solidFill>
                  <a:schemeClr val="dk1"/>
                </a:solidFill>
              </a:rPr>
              <a:t>Technical Example:</a:t>
            </a:r>
            <a:endParaRPr b="1">
              <a:solidFill>
                <a:schemeClr val="dk1"/>
              </a:solidFill>
            </a:endParaRPr>
          </a:p>
          <a:p>
            <a:pPr indent="0" lvl="0" marL="0" marR="381000" rtl="0" algn="l">
              <a:lnSpc>
                <a:spcPct val="115000"/>
              </a:lnSpc>
              <a:spcBef>
                <a:spcPts val="1200"/>
              </a:spcBef>
              <a:spcAft>
                <a:spcPts val="0"/>
              </a:spcAft>
              <a:buNone/>
            </a:pPr>
            <a:r>
              <a:rPr lang="en-US">
                <a:solidFill>
                  <a:schemeClr val="dk1"/>
                </a:solidFill>
              </a:rPr>
              <a:t>When the operator presses ‘Process Next Order’, the system checks a boolean condition to see if any orders are queued. An if-else structure decides whether to stop or continue. If an order exists, a loop iterates over the order lines, and another loop repeats the robot sequence based on quantity. Strings identify items and generate robot programs. All state changes are persisted to the database, which acts as the single source of truth</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b86deca15b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b86deca15b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Clr>
                <a:schemeClr val="dk1"/>
              </a:buClr>
              <a:buSzPts val="1100"/>
              <a:buFont typeface="Arial"/>
              <a:buNone/>
            </a:pPr>
            <a:r>
              <a:rPr lang="en-US"/>
              <a:t>The database acts as the single source of truth for the system.</a:t>
            </a:r>
            <a:endParaRPr/>
          </a:p>
          <a:p>
            <a:pPr indent="0" lvl="0" marL="0" marR="381000" rtl="0" algn="l">
              <a:lnSpc>
                <a:spcPct val="115000"/>
              </a:lnSpc>
              <a:spcBef>
                <a:spcPts val="1200"/>
              </a:spcBef>
              <a:spcAft>
                <a:spcPts val="0"/>
              </a:spcAft>
              <a:buClr>
                <a:schemeClr val="dk1"/>
              </a:buClr>
              <a:buSzPts val="1100"/>
              <a:buFont typeface="Arial"/>
              <a:buNone/>
            </a:pPr>
            <a:r>
              <a:rPr lang="en-US"/>
              <a:t>We use SQLite with Entity Framework Core to persist production state and ensure consistency between the GUI, application logic, and robot execution.</a:t>
            </a:r>
            <a:endParaRPr/>
          </a:p>
          <a:p>
            <a:pPr indent="0" lvl="0" marL="0" marR="381000" rtl="0" algn="l">
              <a:lnSpc>
                <a:spcPct val="115000"/>
              </a:lnSpc>
              <a:spcBef>
                <a:spcPts val="1200"/>
              </a:spcBef>
              <a:spcAft>
                <a:spcPts val="0"/>
              </a:spcAft>
              <a:buNone/>
            </a:pPr>
            <a:r>
              <a:rPr lang="en-US"/>
              <a:t>All orders, inventory data, and production state are stored in the database, while the application logic reads this data and translates it into robot motion sequences.</a:t>
            </a:r>
            <a:endParaRPr/>
          </a:p>
          <a:p>
            <a:pPr indent="0" lvl="0" marL="0" rtl="0" algn="l">
              <a:lnSpc>
                <a:spcPct val="115000"/>
              </a:lnSpc>
              <a:spcBef>
                <a:spcPts val="1800"/>
              </a:spcBef>
              <a:spcAft>
                <a:spcPts val="0"/>
              </a:spcAft>
              <a:buNone/>
            </a:pPr>
            <a:r>
              <a:rPr b="1" lang="en-US" sz="1700">
                <a:solidFill>
                  <a:schemeClr val="dk1"/>
                </a:solidFill>
              </a:rPr>
              <a:t>Data Flow &amp; Consistency</a:t>
            </a:r>
            <a:endParaRPr b="1" sz="1700">
              <a:solidFill>
                <a:schemeClr val="dk1"/>
              </a:solidFill>
            </a:endParaRPr>
          </a:p>
          <a:p>
            <a:pPr indent="-298450" lvl="0" marL="457200" marR="381000" rtl="0" algn="l">
              <a:lnSpc>
                <a:spcPct val="115000"/>
              </a:lnSpc>
              <a:spcBef>
                <a:spcPts val="1200"/>
              </a:spcBef>
              <a:spcAft>
                <a:spcPts val="0"/>
              </a:spcAft>
              <a:buClr>
                <a:schemeClr val="dk1"/>
              </a:buClr>
              <a:buSzPts val="1100"/>
              <a:buAutoNum type="arabicPeriod"/>
            </a:pPr>
            <a:r>
              <a:rPr lang="en-US">
                <a:solidFill>
                  <a:schemeClr val="dk1"/>
                </a:solidFill>
              </a:rPr>
              <a:t>All production-related actions follow a database-driven workflow.</a:t>
            </a:r>
            <a:endParaRPr>
              <a:solidFill>
                <a:schemeClr val="dk1"/>
              </a:solidFill>
            </a:endParaRPr>
          </a:p>
          <a:p>
            <a:pPr indent="-298450" lvl="0" marL="457200" marR="381000" rtl="0" algn="l">
              <a:lnSpc>
                <a:spcPct val="115000"/>
              </a:lnSpc>
              <a:spcBef>
                <a:spcPts val="0"/>
              </a:spcBef>
              <a:spcAft>
                <a:spcPts val="0"/>
              </a:spcAft>
              <a:buClr>
                <a:schemeClr val="dk1"/>
              </a:buClr>
              <a:buSzPts val="1100"/>
              <a:buAutoNum type="arabicPeriod"/>
            </a:pPr>
            <a:r>
              <a:rPr lang="en-US">
                <a:solidFill>
                  <a:schemeClr val="dk1"/>
                </a:solidFill>
              </a:rPr>
              <a:t>Orders are created through the GUI and stored in the database.</a:t>
            </a:r>
            <a:endParaRPr>
              <a:solidFill>
                <a:schemeClr val="dk1"/>
              </a:solidFill>
            </a:endParaRPr>
          </a:p>
          <a:p>
            <a:pPr indent="-298450" lvl="0" marL="457200" marR="381000" rtl="0" algn="l">
              <a:lnSpc>
                <a:spcPct val="115000"/>
              </a:lnSpc>
              <a:spcBef>
                <a:spcPts val="0"/>
              </a:spcBef>
              <a:spcAft>
                <a:spcPts val="0"/>
              </a:spcAft>
              <a:buClr>
                <a:schemeClr val="dk1"/>
              </a:buClr>
              <a:buSzPts val="1100"/>
              <a:buAutoNum type="arabicPeriod"/>
            </a:pPr>
            <a:r>
              <a:rPr lang="en-US">
                <a:solidFill>
                  <a:schemeClr val="dk1"/>
                </a:solidFill>
              </a:rPr>
              <a:t>The application retrieves the next queued order.</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Order data is translated into a robot motion sequence.</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After successful execution, the database is updated: the order is moved to processed and inventory quantities are reduced.”</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This design is well suited for an operator-controlled system, where production depends on human decisions rather than full automation.</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To support testing and demonstration, the database includes controlled seeding and a reset function, allowing the system to return to a known state without deleting the database file.</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“Overall, the database-centered architecture provides traceability, robustness, and a realistic industrial production model.</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b86deca15b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b86deca15b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b8f1cd1e88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b8f1cd1e88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b86deca15b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b86deca15b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b8f1cd1e88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b8f1cd1e88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b86deca15b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g3b86deca15b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br>
              <a:rPr lang="en-US">
                <a:solidFill>
                  <a:schemeClr val="dk1"/>
                </a:solidFill>
              </a:rPr>
            </a:br>
            <a:r>
              <a:rPr lang="en-US">
                <a:solidFill>
                  <a:schemeClr val="dk1"/>
                </a:solidFill>
              </a:rPr>
              <a:t>“The robot is integrated as part of a database-driven system.</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Orders are created in the GUI, stored in the database, and translated into predefined URScript motion sequences.</a:t>
            </a:r>
            <a:br>
              <a:rPr lang="en-US">
                <a:solidFill>
                  <a:schemeClr val="dk1"/>
                </a:solidFill>
              </a:rPr>
            </a:br>
            <a:r>
              <a:rPr lang="en-US">
                <a:solidFill>
                  <a:schemeClr val="dk1"/>
                </a:solidFill>
              </a:rPr>
              <a:t>The same integration is used for both URSim and the real robot.</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b8f340af8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b8f340af8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br>
              <a:rPr lang="en-US">
                <a:solidFill>
                  <a:schemeClr val="dk1"/>
                </a:solidFill>
              </a:rPr>
            </a:br>
            <a:r>
              <a:rPr lang="en-US">
                <a:solidFill>
                  <a:schemeClr val="dk1"/>
                </a:solidFill>
              </a:rPr>
              <a:t>All robot movements are structured using approach and pick/place heights to ensure predictable and safe motion.</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b86deca15b_1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b86deca15b_1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br>
              <a:rPr lang="en-US">
                <a:solidFill>
                  <a:schemeClr val="dk1"/>
                </a:solidFill>
              </a:rPr>
            </a:br>
            <a:r>
              <a:rPr lang="en-US">
                <a:solidFill>
                  <a:schemeClr val="dk1"/>
                </a:solidFill>
              </a:rPr>
              <a:t>The sensor acts as a simple safety interlock.</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After the robot places the finished product, it reads the sensor.</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If the sensor is active, the robot holds in a safe idle position and continuously checks the signal.</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Only when the product is removed does the robot continue to the next order.</a:t>
            </a:r>
            <a:endParaRPr>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b86deca15b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3b86deca15b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Operator-controlled flow was a conscious design decision to increase safety and transparency, even though it reduces automation level.</a:t>
            </a:r>
            <a:endParaRPr>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b86deca15b_1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b86deca15b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chemeClr val="dk1"/>
                </a:solidFill>
              </a:rPr>
              <a:t>Lars</a:t>
            </a:r>
            <a:br>
              <a:rPr lang="en-US" sz="1200">
                <a:solidFill>
                  <a:schemeClr val="dk1"/>
                </a:solidFill>
              </a:rPr>
            </a:br>
            <a:r>
              <a:rPr lang="en-US" sz="1200">
                <a:solidFill>
                  <a:schemeClr val="dk1"/>
                </a:solidFill>
              </a:rPr>
              <a:t>Future Implementation:</a:t>
            </a:r>
            <a:endParaRPr sz="1200">
              <a:solidFill>
                <a:schemeClr val="dk1"/>
              </a:solidFill>
            </a:endParaRPr>
          </a:p>
          <a:p>
            <a:pPr indent="-304800" lvl="0" marL="457200" rtl="0" algn="l">
              <a:lnSpc>
                <a:spcPct val="115000"/>
              </a:lnSpc>
              <a:spcBef>
                <a:spcPts val="1400"/>
              </a:spcBef>
              <a:spcAft>
                <a:spcPts val="0"/>
              </a:spcAft>
              <a:buClr>
                <a:schemeClr val="dk1"/>
              </a:buClr>
              <a:buSzPts val="1200"/>
              <a:buChar char="•"/>
            </a:pPr>
            <a:r>
              <a:rPr lang="en-US" sz="1200">
                <a:solidFill>
                  <a:schemeClr val="dk1"/>
                </a:solidFill>
              </a:rPr>
              <a:t>Conveyor belt for automated material handling</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Additional robot for parallel processing</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Vision system for flexible positioning</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More sensors to reduce idle time</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Automated scheduling instead of operator-triggered execution</a:t>
            </a:r>
            <a:endParaRPr sz="1200">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b86deca15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b86deca15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Lars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slide" type="title">
  <p:cSld name="TITLE">
    <p:spTree>
      <p:nvGrpSpPr>
        <p:cNvPr id="11" name="Shape 11"/>
        <p:cNvGrpSpPr/>
        <p:nvPr/>
      </p:nvGrpSpPr>
      <p:grpSpPr>
        <a:xfrm>
          <a:off x="0" y="0"/>
          <a:ext cx="0" cy="0"/>
          <a:chOff x="0" y="0"/>
          <a:chExt cx="0" cy="0"/>
        </a:xfrm>
      </p:grpSpPr>
      <p:sp>
        <p:nvSpPr>
          <p:cNvPr id="12" name="Google Shape;12;p5"/>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5"/>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og indholdsobjekt" type="obj">
  <p:cSld name="OBJECT">
    <p:spTree>
      <p:nvGrpSpPr>
        <p:cNvPr id="17" name="Shape 17"/>
        <p:cNvGrpSpPr/>
        <p:nvPr/>
      </p:nvGrpSpPr>
      <p:grpSpPr>
        <a:xfrm>
          <a:off x="0" y="0"/>
          <a:ext cx="0" cy="0"/>
          <a:chOff x="0" y="0"/>
          <a:chExt cx="0" cy="0"/>
        </a:xfrm>
      </p:grpSpPr>
      <p:sp>
        <p:nvSpPr>
          <p:cNvPr id="18" name="Google Shape;18;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fsnitsoverskrift" type="secHead">
  <p:cSld name="SECTION_HEADER">
    <p:spTree>
      <p:nvGrpSpPr>
        <p:cNvPr id="23" name="Shape 23"/>
        <p:cNvGrpSpPr/>
        <p:nvPr/>
      </p:nvGrpSpPr>
      <p:grpSpPr>
        <a:xfrm>
          <a:off x="0" y="0"/>
          <a:ext cx="0" cy="0"/>
          <a:chOff x="0" y="0"/>
          <a:chExt cx="0" cy="0"/>
        </a:xfrm>
      </p:grpSpPr>
      <p:sp>
        <p:nvSpPr>
          <p:cNvPr id="24" name="Google Shape;24;p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26" name="Google Shape;26;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 indholdsobjekter" type="twoObj">
  <p:cSld name="TWO_OBJECTS">
    <p:spTree>
      <p:nvGrpSpPr>
        <p:cNvPr id="29" name="Shape 29"/>
        <p:cNvGrpSpPr/>
        <p:nvPr/>
      </p:nvGrpSpPr>
      <p:grpSpPr>
        <a:xfrm>
          <a:off x="0" y="0"/>
          <a:ext cx="0" cy="0"/>
          <a:chOff x="0" y="0"/>
          <a:chExt cx="0" cy="0"/>
        </a:xfrm>
      </p:grpSpPr>
      <p:sp>
        <p:nvSpPr>
          <p:cNvPr id="30" name="Google Shape;30;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ammenligning" type="twoTxTwoObj">
  <p:cSld name="TWO_OBJECTS_WITH_TEXT">
    <p:spTree>
      <p:nvGrpSpPr>
        <p:cNvPr id="36" name="Shape 36"/>
        <p:cNvGrpSpPr/>
        <p:nvPr/>
      </p:nvGrpSpPr>
      <p:grpSpPr>
        <a:xfrm>
          <a:off x="0" y="0"/>
          <a:ext cx="0" cy="0"/>
          <a:chOff x="0" y="0"/>
          <a:chExt cx="0" cy="0"/>
        </a:xfrm>
      </p:grpSpPr>
      <p:sp>
        <p:nvSpPr>
          <p:cNvPr id="37" name="Google Shape;37;p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Kun titel" type="titleOnly">
  <p:cSld name="TITLE_ONLY">
    <p:spTree>
      <p:nvGrpSpPr>
        <p:cNvPr id="45" name="Shape 45"/>
        <p:cNvGrpSpPr/>
        <p:nvPr/>
      </p:nvGrpSpPr>
      <p:grpSpPr>
        <a:xfrm>
          <a:off x="0" y="0"/>
          <a:ext cx="0" cy="0"/>
          <a:chOff x="0" y="0"/>
          <a:chExt cx="0" cy="0"/>
        </a:xfrm>
      </p:grpSpPr>
      <p:sp>
        <p:nvSpPr>
          <p:cNvPr id="46" name="Google Shape;46;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m" type="blank">
  <p:cSld name="BLANK">
    <p:spTree>
      <p:nvGrpSpPr>
        <p:cNvPr id="50" name="Shape 50"/>
        <p:cNvGrpSpPr/>
        <p:nvPr/>
      </p:nvGrpSpPr>
      <p:grpSpPr>
        <a:xfrm>
          <a:off x="0" y="0"/>
          <a:ext cx="0" cy="0"/>
          <a:chOff x="0" y="0"/>
          <a:chExt cx="0" cy="0"/>
        </a:xfrm>
      </p:grpSpPr>
      <p:sp>
        <p:nvSpPr>
          <p:cNvPr id="51" name="Google Shape;51;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hold med billedtekst" type="objTx">
  <p:cSld name="OBJECT_WITH_CAPTION_TEXT">
    <p:spTree>
      <p:nvGrpSpPr>
        <p:cNvPr id="54" name="Shape 54"/>
        <p:cNvGrpSpPr/>
        <p:nvPr/>
      </p:nvGrpSpPr>
      <p:grpSpPr>
        <a:xfrm>
          <a:off x="0" y="0"/>
          <a:ext cx="0" cy="0"/>
          <a:chOff x="0" y="0"/>
          <a:chExt cx="0" cy="0"/>
        </a:xfrm>
      </p:grpSpPr>
      <p:sp>
        <p:nvSpPr>
          <p:cNvPr id="55" name="Google Shape;55;p1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1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llede med billedtekst" type="picTx">
  <p:cSld name="PICTURE_WITH_CAPTION_TEXT">
    <p:spTree>
      <p:nvGrpSpPr>
        <p:cNvPr id="61" name="Shape 61"/>
        <p:cNvGrpSpPr/>
        <p:nvPr/>
      </p:nvGrpSpPr>
      <p:grpSpPr>
        <a:xfrm>
          <a:off x="0" y="0"/>
          <a:ext cx="0" cy="0"/>
          <a:chOff x="0" y="0"/>
          <a:chExt cx="0" cy="0"/>
        </a:xfrm>
      </p:grpSpPr>
      <p:sp>
        <p:nvSpPr>
          <p:cNvPr id="62" name="Google Shape;62;p1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3"/>
          <p:cNvSpPr/>
          <p:nvPr>
            <p:ph idx="2" type="pic"/>
          </p:nvPr>
        </p:nvSpPr>
        <p:spPr>
          <a:xfrm>
            <a:off x="5183188" y="987425"/>
            <a:ext cx="6172200" cy="4873625"/>
          </a:xfrm>
          <a:prstGeom prst="rect">
            <a:avLst/>
          </a:prstGeom>
          <a:noFill/>
          <a:ln>
            <a:noFill/>
          </a:ln>
        </p:spPr>
      </p:sp>
      <p:sp>
        <p:nvSpPr>
          <p:cNvPr id="64" name="Google Shape;64;p1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og lodret tekst" type="vertTx">
  <p:cSld name="VERTICAL_TEXT">
    <p:spTree>
      <p:nvGrpSpPr>
        <p:cNvPr id="68" name="Shape 68"/>
        <p:cNvGrpSpPr/>
        <p:nvPr/>
      </p:nvGrpSpPr>
      <p:grpSpPr>
        <a:xfrm>
          <a:off x="0" y="0"/>
          <a:ext cx="0" cy="0"/>
          <a:chOff x="0" y="0"/>
          <a:chExt cx="0" cy="0"/>
        </a:xfrm>
      </p:grpSpPr>
      <p:sp>
        <p:nvSpPr>
          <p:cNvPr id="69" name="Google Shape;69;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odret titel og tekst" type="vertTitleAndTx">
  <p:cSld name="VERTICAL_TITLE_AND_VERTICAL_TEXT">
    <p:spTree>
      <p:nvGrpSpPr>
        <p:cNvPr id="74" name="Shape 74"/>
        <p:cNvGrpSpPr/>
        <p:nvPr/>
      </p:nvGrpSpPr>
      <p:grpSpPr>
        <a:xfrm>
          <a:off x="0" y="0"/>
          <a:ext cx="0" cy="0"/>
          <a:chOff x="0" y="0"/>
          <a:chExt cx="0" cy="0"/>
        </a:xfrm>
      </p:grpSpPr>
      <p:sp>
        <p:nvSpPr>
          <p:cNvPr id="75" name="Google Shape;75;p1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80" name="Shape 80"/>
        <p:cNvGrpSpPr/>
        <p:nvPr/>
      </p:nvGrpSpPr>
      <p:grpSpPr>
        <a:xfrm>
          <a:off x="0" y="0"/>
          <a:ext cx="0" cy="0"/>
          <a:chOff x="0" y="0"/>
          <a:chExt cx="0" cy="0"/>
        </a:xfrm>
      </p:grpSpPr>
      <p:sp>
        <p:nvSpPr>
          <p:cNvPr id="81" name="Google Shape;81;g3b86deca15b_0_8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2" name="Google Shape;82;g3b86deca15b_0_87"/>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lvl1pPr indent="-406400" lvl="0" marL="457200">
              <a:spcBef>
                <a:spcPts val="1000"/>
              </a:spcBef>
              <a:spcAft>
                <a:spcPts val="0"/>
              </a:spcAft>
              <a:buSzPts val="2800"/>
              <a:buChar char="•"/>
              <a:defRPr/>
            </a:lvl1pPr>
            <a:lvl2pPr indent="-381000" lvl="1" marL="914400">
              <a:spcBef>
                <a:spcPts val="500"/>
              </a:spcBef>
              <a:spcAft>
                <a:spcPts val="0"/>
              </a:spcAft>
              <a:buSzPts val="2400"/>
              <a:buChar char="•"/>
              <a:defRPr/>
            </a:lvl2pPr>
            <a:lvl3pPr indent="-355600" lvl="2" marL="1371600">
              <a:spcBef>
                <a:spcPts val="500"/>
              </a:spcBef>
              <a:spcAft>
                <a:spcPts val="0"/>
              </a:spcAft>
              <a:buSzPts val="2000"/>
              <a:buChar char="•"/>
              <a:defRPr/>
            </a:lvl3pPr>
            <a:lvl4pPr indent="-342900" lvl="3" marL="1828800">
              <a:spcBef>
                <a:spcPts val="500"/>
              </a:spcBef>
              <a:spcAft>
                <a:spcPts val="0"/>
              </a:spcAft>
              <a:buSzPts val="1800"/>
              <a:buChar char="•"/>
              <a:defRPr/>
            </a:lvl4pPr>
            <a:lvl5pPr indent="-342900" lvl="4" marL="2286000">
              <a:spcBef>
                <a:spcPts val="500"/>
              </a:spcBef>
              <a:spcAft>
                <a:spcPts val="0"/>
              </a:spcAft>
              <a:buSzPts val="1800"/>
              <a:buChar char="•"/>
              <a:defRPr/>
            </a:lvl5pPr>
            <a:lvl6pPr indent="-342900" lvl="5" marL="2743200">
              <a:spcBef>
                <a:spcPts val="500"/>
              </a:spcBef>
              <a:spcAft>
                <a:spcPts val="0"/>
              </a:spcAft>
              <a:buSzPts val="1800"/>
              <a:buChar char="•"/>
              <a:defRPr/>
            </a:lvl6pPr>
            <a:lvl7pPr indent="-342900" lvl="6" marL="3200400">
              <a:spcBef>
                <a:spcPts val="500"/>
              </a:spcBef>
              <a:spcAft>
                <a:spcPts val="0"/>
              </a:spcAft>
              <a:buSzPts val="1800"/>
              <a:buChar char="•"/>
              <a:defRPr/>
            </a:lvl7pPr>
            <a:lvl8pPr indent="-342900" lvl="7" marL="3657600">
              <a:spcBef>
                <a:spcPts val="500"/>
              </a:spcBef>
              <a:spcAft>
                <a:spcPts val="0"/>
              </a:spcAft>
              <a:buSzPts val="1800"/>
              <a:buChar char="•"/>
              <a:defRPr/>
            </a:lvl8pPr>
            <a:lvl9pPr indent="-342900" lvl="8" marL="4114800">
              <a:spcBef>
                <a:spcPts val="500"/>
              </a:spcBef>
              <a:spcAft>
                <a:spcPts val="0"/>
              </a:spcAft>
              <a:buSzPts val="1800"/>
              <a:buChar char="•"/>
              <a:defRPr/>
            </a:lvl9pPr>
          </a:lstStyle>
          <a:p/>
        </p:txBody>
      </p:sp>
      <p:sp>
        <p:nvSpPr>
          <p:cNvPr id="83" name="Google Shape;83;g3b86deca15b_0_87"/>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 Id="rId4" Type="http://schemas.openxmlformats.org/officeDocument/2006/relationships/image" Target="../media/image1.jpg"/><Relationship Id="rId5"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1.jpg"/><Relationship Id="rId5" Type="http://schemas.openxmlformats.org/officeDocument/2006/relationships/image" Target="../media/image20.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4.png"/><Relationship Id="rId5"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hyperlink" Target="https://drive.google.com/file/d/14DXHzHSYnXVVVRLE-rbOtciuuxSQrx-S/view?usp=drive_link" TargetMode="External"/><Relationship Id="rId4" Type="http://schemas.openxmlformats.org/officeDocument/2006/relationships/image" Target="../media/image2.jp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2.jpg"/><Relationship Id="rId4" Type="http://schemas.openxmlformats.org/officeDocument/2006/relationships/image" Target="../media/image4.png"/><Relationship Id="rId5"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4.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17.png"/><Relationship Id="rId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2.jp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2.jp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jp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2.jpg"/><Relationship Id="rId4" Type="http://schemas.openxmlformats.org/officeDocument/2006/relationships/image" Target="../media/image8.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jpg"/><Relationship Id="rId4" Type="http://schemas.openxmlformats.org/officeDocument/2006/relationships/image" Target="../media/image4.png"/><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2.jpg"/><Relationship Id="rId5"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jp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jpg"/><Relationship Id="rId4" Type="http://schemas.openxmlformats.org/officeDocument/2006/relationships/image" Target="../media/image4.png"/><Relationship Id="rId5"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descr="RG2 Gripper" id="88" name="Google Shape;88;p1"/>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descr="RG2 Gripper" id="89" name="Google Shape;89;p1"/>
          <p:cNvPicPr preferRelativeResize="0"/>
          <p:nvPr/>
        </p:nvPicPr>
        <p:blipFill rotWithShape="1">
          <a:blip r:embed="rId4">
            <a:alphaModFix/>
          </a:blip>
          <a:srcRect b="0" l="26972" r="0" t="7531"/>
          <a:stretch/>
        </p:blipFill>
        <p:spPr>
          <a:xfrm rot="4268305">
            <a:off x="4043150" y="1205549"/>
            <a:ext cx="4529237" cy="6213040"/>
          </a:xfrm>
          <a:prstGeom prst="rect">
            <a:avLst/>
          </a:prstGeom>
          <a:noFill/>
          <a:ln>
            <a:noFill/>
          </a:ln>
        </p:spPr>
      </p:pic>
      <p:pic>
        <p:nvPicPr>
          <p:cNvPr id="90" name="Google Shape;90;p1"/>
          <p:cNvPicPr preferRelativeResize="0"/>
          <p:nvPr/>
        </p:nvPicPr>
        <p:blipFill rotWithShape="1">
          <a:blip r:embed="rId5">
            <a:alphaModFix/>
          </a:blip>
          <a:srcRect b="0" l="0" r="0" t="0"/>
          <a:stretch/>
        </p:blipFill>
        <p:spPr>
          <a:xfrm>
            <a:off x="239609" y="223284"/>
            <a:ext cx="1493985" cy="2179674"/>
          </a:xfrm>
          <a:prstGeom prst="rect">
            <a:avLst/>
          </a:prstGeom>
          <a:noFill/>
          <a:ln>
            <a:noFill/>
          </a:ln>
        </p:spPr>
      </p:pic>
      <p:sp>
        <p:nvSpPr>
          <p:cNvPr id="91" name="Google Shape;91;p1"/>
          <p:cNvSpPr txBox="1"/>
          <p:nvPr/>
        </p:nvSpPr>
        <p:spPr>
          <a:xfrm>
            <a:off x="1900771" y="150109"/>
            <a:ext cx="2750400" cy="892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AEAEAE"/>
                </a:solidFill>
                <a:latin typeface="Arial"/>
                <a:ea typeface="Arial"/>
                <a:cs typeface="Arial"/>
                <a:sym typeface="Arial"/>
              </a:rPr>
              <a:t>Group 1</a:t>
            </a:r>
            <a:endParaRPr sz="1300"/>
          </a:p>
          <a:p>
            <a:pPr indent="0" lvl="0" marL="0" marR="0" rtl="0" algn="l">
              <a:spcBef>
                <a:spcPts val="0"/>
              </a:spcBef>
              <a:spcAft>
                <a:spcPts val="0"/>
              </a:spcAft>
              <a:buNone/>
            </a:pPr>
            <a:r>
              <a:rPr b="1" lang="en-US" sz="1300">
                <a:solidFill>
                  <a:srgbClr val="AEAEAE"/>
                </a:solidFill>
                <a:latin typeface="Arial"/>
                <a:ea typeface="Arial"/>
                <a:cs typeface="Arial"/>
                <a:sym typeface="Arial"/>
              </a:rPr>
              <a:t>Lars Bach Sørensen (S235648) , </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Lasse Manicus (S235655),</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Marius Millington (S235659)</a:t>
            </a:r>
            <a:endParaRPr b="1" sz="1300">
              <a:solidFill>
                <a:srgbClr val="AEAEAE"/>
              </a:solidFill>
              <a:latin typeface="Arial"/>
              <a:ea typeface="Arial"/>
              <a:cs typeface="Arial"/>
              <a:sym typeface="Arial"/>
            </a:endParaRPr>
          </a:p>
        </p:txBody>
      </p:sp>
      <p:sp>
        <p:nvSpPr>
          <p:cNvPr id="92" name="Google Shape;92;p1"/>
          <p:cNvSpPr/>
          <p:nvPr/>
        </p:nvSpPr>
        <p:spPr>
          <a:xfrm rot="5400000">
            <a:off x="9220775" y="122192"/>
            <a:ext cx="2859932" cy="2857839"/>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93" name="Google Shape;93;p1"/>
          <p:cNvSpPr txBox="1"/>
          <p:nvPr/>
        </p:nvSpPr>
        <p:spPr>
          <a:xfrm>
            <a:off x="2326887" y="2966936"/>
            <a:ext cx="7733400" cy="723300"/>
          </a:xfrm>
          <a:prstGeom prst="rect">
            <a:avLst/>
          </a:prstGeom>
          <a:noFill/>
          <a:ln cap="flat" cmpd="sng" w="76200">
            <a:solidFill>
              <a:srgbClr val="6D92A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100">
                <a:solidFill>
                  <a:schemeClr val="dk1"/>
                </a:solidFill>
                <a:latin typeface="Arial"/>
                <a:ea typeface="Arial"/>
                <a:cs typeface="Arial"/>
                <a:sym typeface="Arial"/>
              </a:rPr>
              <a:t>INDUSTRIAL PROGRAMMING</a:t>
            </a:r>
            <a:endParaRPr sz="11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89"/>
                                        </p:tgtEl>
                                        <p:attrNameLst>
                                          <p:attrName>style.visibility</p:attrName>
                                        </p:attrNameLst>
                                      </p:cBhvr>
                                      <p:to>
                                        <p:strVal val="visible"/>
                                      </p:to>
                                    </p:set>
                                    <p:anim calcmode="lin" valueType="num">
                                      <p:cBhvr additive="base">
                                        <p:cTn dur="2000"/>
                                        <p:tgtEl>
                                          <p:spTgt spid="89"/>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pic>
        <p:nvPicPr>
          <p:cNvPr descr="RG2 Gripper" id="98" name="Google Shape;98;p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descr="RG2 Gripper" id="99" name="Google Shape;99;p2"/>
          <p:cNvPicPr preferRelativeResize="0"/>
          <p:nvPr/>
        </p:nvPicPr>
        <p:blipFill rotWithShape="1">
          <a:blip r:embed="rId4">
            <a:alphaModFix/>
          </a:blip>
          <a:srcRect b="0" l="26923" r="0" t="7555"/>
          <a:stretch/>
        </p:blipFill>
        <p:spPr>
          <a:xfrm rot="4268305">
            <a:off x="4040343" y="1205146"/>
            <a:ext cx="4532334" cy="6211434"/>
          </a:xfrm>
          <a:prstGeom prst="rect">
            <a:avLst/>
          </a:prstGeom>
          <a:noFill/>
          <a:ln>
            <a:noFill/>
          </a:ln>
        </p:spPr>
      </p:pic>
      <p:pic>
        <p:nvPicPr>
          <p:cNvPr id="100" name="Google Shape;100;p2"/>
          <p:cNvPicPr preferRelativeResize="0"/>
          <p:nvPr/>
        </p:nvPicPr>
        <p:blipFill rotWithShape="1">
          <a:blip r:embed="rId5">
            <a:alphaModFix/>
          </a:blip>
          <a:srcRect b="0" l="0" r="0" t="0"/>
          <a:stretch/>
        </p:blipFill>
        <p:spPr>
          <a:xfrm>
            <a:off x="239609" y="223284"/>
            <a:ext cx="1493985" cy="2179674"/>
          </a:xfrm>
          <a:prstGeom prst="rect">
            <a:avLst/>
          </a:prstGeom>
          <a:noFill/>
          <a:ln>
            <a:noFill/>
          </a:ln>
        </p:spPr>
      </p:pic>
      <p:sp>
        <p:nvSpPr>
          <p:cNvPr id="101" name="Google Shape;101;p2"/>
          <p:cNvSpPr txBox="1"/>
          <p:nvPr/>
        </p:nvSpPr>
        <p:spPr>
          <a:xfrm>
            <a:off x="2326887" y="2966936"/>
            <a:ext cx="7733400" cy="723300"/>
          </a:xfrm>
          <a:prstGeom prst="rect">
            <a:avLst/>
          </a:prstGeom>
          <a:noFill/>
          <a:ln cap="flat" cmpd="sng" w="76200">
            <a:solidFill>
              <a:srgbClr val="6D92A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100">
                <a:solidFill>
                  <a:schemeClr val="dk1"/>
                </a:solidFill>
                <a:latin typeface="Arial"/>
                <a:ea typeface="Arial"/>
                <a:cs typeface="Arial"/>
                <a:sym typeface="Arial"/>
              </a:rPr>
              <a:t>INDUSTRIAL PROGRAMMING</a:t>
            </a:r>
            <a:endParaRPr sz="4100"/>
          </a:p>
        </p:txBody>
      </p:sp>
      <p:sp>
        <p:nvSpPr>
          <p:cNvPr id="102" name="Google Shape;102;p2"/>
          <p:cNvSpPr/>
          <p:nvPr/>
        </p:nvSpPr>
        <p:spPr>
          <a:xfrm rot="5400000">
            <a:off x="9220775" y="122192"/>
            <a:ext cx="2859932" cy="2857839"/>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03" name="Google Shape;103;p2"/>
          <p:cNvPicPr preferRelativeResize="0"/>
          <p:nvPr/>
        </p:nvPicPr>
        <p:blipFill rotWithShape="1">
          <a:blip r:embed="rId6">
            <a:alphaModFix/>
          </a:blip>
          <a:srcRect b="0" l="0" r="0" t="0"/>
          <a:stretch/>
        </p:blipFill>
        <p:spPr>
          <a:xfrm>
            <a:off x="10377126" y="338195"/>
            <a:ext cx="1442966" cy="1612514"/>
          </a:xfrm>
          <a:prstGeom prst="rect">
            <a:avLst/>
          </a:prstGeom>
          <a:noFill/>
          <a:ln>
            <a:noFill/>
          </a:ln>
        </p:spPr>
      </p:pic>
      <p:sp>
        <p:nvSpPr>
          <p:cNvPr id="104" name="Google Shape;104;p2"/>
          <p:cNvSpPr txBox="1"/>
          <p:nvPr/>
        </p:nvSpPr>
        <p:spPr>
          <a:xfrm>
            <a:off x="2326894" y="2961046"/>
            <a:ext cx="7733400" cy="723300"/>
          </a:xfrm>
          <a:prstGeom prst="rect">
            <a:avLst/>
          </a:prstGeom>
          <a:noFill/>
          <a:ln cap="flat" cmpd="sng" w="76200">
            <a:solidFill>
              <a:srgbClr val="6D92A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100">
                <a:solidFill>
                  <a:schemeClr val="dk1"/>
                </a:solidFill>
                <a:latin typeface="Arial"/>
                <a:ea typeface="Arial"/>
                <a:cs typeface="Arial"/>
                <a:sym typeface="Arial"/>
              </a:rPr>
              <a:t>TOY FACTORY</a:t>
            </a:r>
            <a:endParaRPr sz="4100"/>
          </a:p>
        </p:txBody>
      </p:sp>
      <p:sp>
        <p:nvSpPr>
          <p:cNvPr id="105" name="Google Shape;105;p2"/>
          <p:cNvSpPr txBox="1"/>
          <p:nvPr/>
        </p:nvSpPr>
        <p:spPr>
          <a:xfrm>
            <a:off x="1900771" y="150109"/>
            <a:ext cx="2750400" cy="892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AEAEAE"/>
                </a:solidFill>
                <a:latin typeface="Arial"/>
                <a:ea typeface="Arial"/>
                <a:cs typeface="Arial"/>
                <a:sym typeface="Arial"/>
              </a:rPr>
              <a:t>Group 1</a:t>
            </a:r>
            <a:endParaRPr sz="1300"/>
          </a:p>
          <a:p>
            <a:pPr indent="0" lvl="0" marL="0" marR="0" rtl="0" algn="l">
              <a:spcBef>
                <a:spcPts val="0"/>
              </a:spcBef>
              <a:spcAft>
                <a:spcPts val="0"/>
              </a:spcAft>
              <a:buNone/>
            </a:pPr>
            <a:r>
              <a:rPr b="1" lang="en-US" sz="1300">
                <a:solidFill>
                  <a:srgbClr val="AEAEAE"/>
                </a:solidFill>
                <a:latin typeface="Arial"/>
                <a:ea typeface="Arial"/>
                <a:cs typeface="Arial"/>
                <a:sym typeface="Arial"/>
              </a:rPr>
              <a:t>Lars Bach Sørensen (S235648) , </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Lasse Manicus (S235655),</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Marius Millington (S235659)</a:t>
            </a:r>
            <a:endParaRPr b="1" sz="1300">
              <a:solidFill>
                <a:srgbClr val="AEAEAE"/>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2" presetSubtype="2">
                                  <p:stCondLst>
                                    <p:cond delay="0"/>
                                  </p:stCondLst>
                                  <p:childTnLst>
                                    <p:anim calcmode="lin" valueType="num">
                                      <p:cBhvr additive="base">
                                        <p:cTn dur="2000"/>
                                        <p:tgtEl>
                                          <p:spTgt spid="101"/>
                                        </p:tgtEl>
                                        <p:attrNameLst>
                                          <p:attrName>ppt_x</p:attrName>
                                        </p:attrNameLst>
                                      </p:cBhvr>
                                      <p:tavLst>
                                        <p:tav fmla="" tm="0">
                                          <p:val>
                                            <p:strVal val="#ppt_x"/>
                                          </p:val>
                                        </p:tav>
                                        <p:tav fmla="" tm="100000">
                                          <p:val>
                                            <p:strVal val="#ppt_x+1"/>
                                          </p:val>
                                        </p:tav>
                                      </p:tavLst>
                                    </p:anim>
                                    <p:set>
                                      <p:cBhvr>
                                        <p:cTn dur="1" fill="hold">
                                          <p:stCondLst>
                                            <p:cond delay="2000"/>
                                          </p:stCondLst>
                                        </p:cTn>
                                        <p:tgtEl>
                                          <p:spTgt spid="101"/>
                                        </p:tgtEl>
                                        <p:attrNameLst>
                                          <p:attrName>style.visibility</p:attrName>
                                        </p:attrNameLst>
                                      </p:cBhvr>
                                      <p:to>
                                        <p:strVal val="hidden"/>
                                      </p:to>
                                    </p:set>
                                  </p:childTnLst>
                                </p:cTn>
                              </p:par>
                              <p:par>
                                <p:cTn fill="hold" nodeType="withEffect" presetClass="exit" presetID="2" presetSubtype="2">
                                  <p:stCondLst>
                                    <p:cond delay="0"/>
                                  </p:stCondLst>
                                  <p:childTnLst>
                                    <p:anim calcmode="lin" valueType="num">
                                      <p:cBhvr additive="base">
                                        <p:cTn dur="2000"/>
                                        <p:tgtEl>
                                          <p:spTgt spid="99"/>
                                        </p:tgtEl>
                                        <p:attrNameLst>
                                          <p:attrName>ppt_x</p:attrName>
                                        </p:attrNameLst>
                                      </p:cBhvr>
                                      <p:tavLst>
                                        <p:tav fmla="" tm="0">
                                          <p:val>
                                            <p:strVal val="#ppt_x"/>
                                          </p:val>
                                        </p:tav>
                                        <p:tav fmla="" tm="100000">
                                          <p:val>
                                            <p:strVal val="#ppt_x+1"/>
                                          </p:val>
                                        </p:tav>
                                      </p:tavLst>
                                    </p:anim>
                                    <p:set>
                                      <p:cBhvr>
                                        <p:cTn dur="1" fill="hold">
                                          <p:stCondLst>
                                            <p:cond delay="2000"/>
                                          </p:stCondLst>
                                        </p:cTn>
                                        <p:tgtEl>
                                          <p:spTgt spid="99"/>
                                        </p:tgtEl>
                                        <p:attrNameLst>
                                          <p:attrName>style.visibility</p:attrName>
                                        </p:attrNameLst>
                                      </p:cBhvr>
                                      <p:to>
                                        <p:strVal val="hidden"/>
                                      </p:to>
                                    </p:set>
                                  </p:childTnLst>
                                </p:cTn>
                              </p:par>
                              <p:par>
                                <p:cTn fill="hold" nodeType="withEffect" presetClass="entr" presetID="2" presetSubtype="8">
                                  <p:stCondLst>
                                    <p:cond delay="0"/>
                                  </p:stCondLst>
                                  <p:childTnLst>
                                    <p:set>
                                      <p:cBhvr>
                                        <p:cTn dur="1" fill="hold">
                                          <p:stCondLst>
                                            <p:cond delay="0"/>
                                          </p:stCondLst>
                                        </p:cTn>
                                        <p:tgtEl>
                                          <p:spTgt spid="104"/>
                                        </p:tgtEl>
                                        <p:attrNameLst>
                                          <p:attrName>style.visibility</p:attrName>
                                        </p:attrNameLst>
                                      </p:cBhvr>
                                      <p:to>
                                        <p:strVal val="visible"/>
                                      </p:to>
                                    </p:set>
                                    <p:anim calcmode="lin" valueType="num">
                                      <p:cBhvr additive="base">
                                        <p:cTn dur="2000"/>
                                        <p:tgtEl>
                                          <p:spTgt spid="104"/>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3"/>
                                        </p:tgtEl>
                                        <p:attrNameLst>
                                          <p:attrName>style.visibility</p:attrName>
                                        </p:attrNameLst>
                                      </p:cBhvr>
                                      <p:to>
                                        <p:strVal val="visible"/>
                                      </p:to>
                                    </p:set>
                                    <p:animEffect filter="fade" transition="in">
                                      <p:cBhvr>
                                        <p:cTn dur="500"/>
                                        <p:tgtEl>
                                          <p:spTgt spid="10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pic>
        <p:nvPicPr>
          <p:cNvPr descr="RG2 Gripper" id="110" name="Google Shape;110;g3b86deca15b_0_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111" name="Google Shape;111;g3b86deca15b_0_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Introduction / Problem (Scope)</a:t>
            </a:r>
            <a:endParaRPr sz="2200">
              <a:latin typeface="Arial"/>
              <a:ea typeface="Arial"/>
              <a:cs typeface="Arial"/>
              <a:sym typeface="Arial"/>
            </a:endParaRPr>
          </a:p>
        </p:txBody>
      </p:sp>
      <p:sp>
        <p:nvSpPr>
          <p:cNvPr id="112" name="Google Shape;112;g3b86deca15b_0_2"/>
          <p:cNvSpPr txBox="1"/>
          <p:nvPr>
            <p:ph idx="1" type="body"/>
          </p:nvPr>
        </p:nvSpPr>
        <p:spPr>
          <a:xfrm>
            <a:off x="1267525" y="1356875"/>
            <a:ext cx="6000900" cy="4555200"/>
          </a:xfrm>
          <a:prstGeom prst="rect">
            <a:avLst/>
          </a:prstGeom>
        </p:spPr>
        <p:txBody>
          <a:bodyPr anchorCtr="0" anchor="t" bIns="45700" lIns="91425" spcFirstLastPara="1" rIns="91425" wrap="square" tIns="45700">
            <a:noAutofit/>
          </a:bodyPr>
          <a:lstStyle/>
          <a:p>
            <a:pPr indent="-355600" lvl="0" marL="457200" rtl="0" algn="l">
              <a:lnSpc>
                <a:spcPct val="107916"/>
              </a:lnSpc>
              <a:spcBef>
                <a:spcPts val="300"/>
              </a:spcBef>
              <a:spcAft>
                <a:spcPts val="0"/>
              </a:spcAft>
              <a:buSzPts val="2000"/>
              <a:buFont typeface="Times New Roman"/>
              <a:buAutoNum type="arabicPeriod"/>
            </a:pPr>
            <a:r>
              <a:rPr b="1" lang="en-US" sz="2000">
                <a:latin typeface="Times New Roman"/>
                <a:ea typeface="Times New Roman"/>
                <a:cs typeface="Times New Roman"/>
                <a:sym typeface="Times New Roman"/>
              </a:rPr>
              <a:t>Order to robot action:</a:t>
            </a:r>
            <a:r>
              <a:rPr lang="en-US" sz="2000">
                <a:latin typeface="Times New Roman"/>
                <a:ea typeface="Times New Roman"/>
                <a:cs typeface="Times New Roman"/>
                <a:sym typeface="Times New Roman"/>
              </a:rPr>
              <a:t> Converting customer orders (color variant and amounts) into concrete robot tasks and a set of sequences.</a:t>
            </a:r>
            <a:endParaRPr sz="2000">
              <a:latin typeface="Times New Roman"/>
              <a:ea typeface="Times New Roman"/>
              <a:cs typeface="Times New Roman"/>
              <a:sym typeface="Times New Roman"/>
            </a:endParaRPr>
          </a:p>
          <a:p>
            <a:pPr indent="-355600" lvl="0" marL="457200" rtl="0" algn="l">
              <a:lnSpc>
                <a:spcPct val="107916"/>
              </a:lnSpc>
              <a:spcBef>
                <a:spcPts val="0"/>
              </a:spcBef>
              <a:spcAft>
                <a:spcPts val="0"/>
              </a:spcAft>
              <a:buSzPts val="2000"/>
              <a:buFont typeface="Times New Roman"/>
              <a:buAutoNum type="arabicPeriod"/>
            </a:pPr>
            <a:r>
              <a:rPr b="1" lang="en-US" sz="2000">
                <a:latin typeface="Times New Roman"/>
                <a:ea typeface="Times New Roman"/>
                <a:cs typeface="Times New Roman"/>
                <a:sym typeface="Times New Roman"/>
              </a:rPr>
              <a:t>Reliable robot communication:</a:t>
            </a:r>
            <a:r>
              <a:rPr lang="en-US" sz="2000">
                <a:latin typeface="Times New Roman"/>
                <a:ea typeface="Times New Roman"/>
                <a:cs typeface="Times New Roman"/>
                <a:sym typeface="Times New Roman"/>
              </a:rPr>
              <a:t> Establishing communication between the PC application and the robot controller using URScript and IP.</a:t>
            </a:r>
            <a:endParaRPr b="1" sz="2000">
              <a:latin typeface="Times New Roman"/>
              <a:ea typeface="Times New Roman"/>
              <a:cs typeface="Times New Roman"/>
              <a:sym typeface="Times New Roman"/>
            </a:endParaRPr>
          </a:p>
          <a:p>
            <a:pPr indent="-355600" lvl="0" marL="457200" rtl="0" algn="l">
              <a:lnSpc>
                <a:spcPct val="107916"/>
              </a:lnSpc>
              <a:spcBef>
                <a:spcPts val="0"/>
              </a:spcBef>
              <a:spcAft>
                <a:spcPts val="0"/>
              </a:spcAft>
              <a:buSzPts val="2000"/>
              <a:buFont typeface="Times New Roman"/>
              <a:buAutoNum type="arabicPeriod"/>
            </a:pPr>
            <a:r>
              <a:rPr b="1" lang="en-US" sz="2000">
                <a:latin typeface="Times New Roman"/>
                <a:ea typeface="Times New Roman"/>
                <a:cs typeface="Times New Roman"/>
                <a:sym typeface="Times New Roman"/>
              </a:rPr>
              <a:t>Process sequencing and handling: </a:t>
            </a:r>
            <a:r>
              <a:rPr lang="en-US" sz="2000">
                <a:latin typeface="Times New Roman"/>
                <a:ea typeface="Times New Roman"/>
                <a:cs typeface="Times New Roman"/>
                <a:sym typeface="Times New Roman"/>
              </a:rPr>
              <a:t>Ensuring that assembly steps are executed in the correct order, and that the system can safely transition between idle, processing and completion.</a:t>
            </a:r>
            <a:endParaRPr sz="2000">
              <a:latin typeface="Times New Roman"/>
              <a:ea typeface="Times New Roman"/>
              <a:cs typeface="Times New Roman"/>
              <a:sym typeface="Times New Roman"/>
            </a:endParaRPr>
          </a:p>
          <a:p>
            <a:pPr indent="-355600" lvl="0" marL="457200" rtl="0" algn="l">
              <a:lnSpc>
                <a:spcPct val="107916"/>
              </a:lnSpc>
              <a:spcBef>
                <a:spcPts val="0"/>
              </a:spcBef>
              <a:spcAft>
                <a:spcPts val="0"/>
              </a:spcAft>
              <a:buSzPts val="2000"/>
              <a:buFont typeface="Times New Roman"/>
              <a:buAutoNum type="arabicPeriod"/>
            </a:pPr>
            <a:r>
              <a:rPr b="1" lang="en-US" sz="2000">
                <a:latin typeface="Times New Roman"/>
                <a:ea typeface="Times New Roman"/>
                <a:cs typeface="Times New Roman"/>
                <a:sym typeface="Times New Roman"/>
              </a:rPr>
              <a:t>Data consistency: </a:t>
            </a:r>
            <a:r>
              <a:rPr lang="en-US" sz="2000">
                <a:latin typeface="Times New Roman"/>
                <a:ea typeface="Times New Roman"/>
                <a:cs typeface="Times New Roman"/>
                <a:sym typeface="Times New Roman"/>
              </a:rPr>
              <a:t>Maintenance between graphical user interface, the database, and the physical production process (Robot)</a:t>
            </a:r>
            <a:endParaRPr sz="2000"/>
          </a:p>
        </p:txBody>
      </p:sp>
      <p:sp>
        <p:nvSpPr>
          <p:cNvPr id="113" name="Google Shape;113;g3b86deca15b_0_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14" name="Google Shape;114;g3b86deca15b_0_2"/>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pic>
        <p:nvPicPr>
          <p:cNvPr id="115" name="Google Shape;115;g3b86deca15b_0_2"/>
          <p:cNvPicPr preferRelativeResize="0"/>
          <p:nvPr/>
        </p:nvPicPr>
        <p:blipFill>
          <a:blip r:embed="rId5">
            <a:alphaModFix/>
          </a:blip>
          <a:stretch>
            <a:fillRect/>
          </a:stretch>
        </p:blipFill>
        <p:spPr>
          <a:xfrm>
            <a:off x="7461475" y="2280825"/>
            <a:ext cx="4314825" cy="43053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g3b86deca15b_1_24"/>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VIDEO</a:t>
            </a:r>
            <a:endParaRPr sz="2200">
              <a:latin typeface="Arial"/>
              <a:ea typeface="Arial"/>
              <a:cs typeface="Arial"/>
              <a:sym typeface="Arial"/>
            </a:endParaRPr>
          </a:p>
        </p:txBody>
      </p:sp>
      <p:sp>
        <p:nvSpPr>
          <p:cNvPr id="121" name="Google Shape;121;g3b86deca15b_1_24"/>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a:t>LINK: </a:t>
            </a:r>
            <a:endParaRPr b="1"/>
          </a:p>
          <a:p>
            <a:pPr indent="0" lvl="0" marL="0" rtl="0" algn="l">
              <a:spcBef>
                <a:spcPts val="1000"/>
              </a:spcBef>
              <a:spcAft>
                <a:spcPts val="0"/>
              </a:spcAft>
              <a:buNone/>
            </a:pPr>
            <a:r>
              <a:t/>
            </a:r>
            <a:endParaRPr b="1"/>
          </a:p>
          <a:p>
            <a:pPr indent="0" lvl="0" marL="0" rtl="0" algn="l">
              <a:spcBef>
                <a:spcPts val="1000"/>
              </a:spcBef>
              <a:spcAft>
                <a:spcPts val="0"/>
              </a:spcAft>
              <a:buNone/>
            </a:pPr>
            <a:r>
              <a:t/>
            </a:r>
            <a:endParaRPr b="1"/>
          </a:p>
          <a:p>
            <a:pPr indent="0" lvl="0" marL="0" rtl="0" algn="l">
              <a:spcBef>
                <a:spcPts val="1000"/>
              </a:spcBef>
              <a:spcAft>
                <a:spcPts val="0"/>
              </a:spcAft>
              <a:buNone/>
            </a:pPr>
            <a:r>
              <a:rPr b="1" lang="en-US" u="sng">
                <a:solidFill>
                  <a:srgbClr val="1155CC"/>
                </a:solidFill>
                <a:hlinkClick r:id="rId3">
                  <a:extLst>
                    <a:ext uri="{A12FA001-AC4F-418D-AE19-62706E023703}">
                      <ahyp:hlinkClr val="tx"/>
                    </a:ext>
                  </a:extLst>
                </a:hlinkClick>
              </a:rPr>
              <a:t>https://drive.google.com/file/d/14DXHzHSYnXVVVRLE-rbOtciuuxSQrx-S/view?usp=drive_link</a:t>
            </a:r>
            <a:endParaRPr b="1"/>
          </a:p>
          <a:p>
            <a:pPr indent="0" lvl="0" marL="0" rtl="0" algn="l">
              <a:spcBef>
                <a:spcPts val="1000"/>
              </a:spcBef>
              <a:spcAft>
                <a:spcPts val="0"/>
              </a:spcAft>
              <a:buNone/>
            </a:pPr>
            <a:r>
              <a:t/>
            </a:r>
            <a:endParaRPr/>
          </a:p>
        </p:txBody>
      </p:sp>
      <p:pic>
        <p:nvPicPr>
          <p:cNvPr descr="RG2 Gripper" id="122" name="Google Shape;122;g3b86deca15b_1_24"/>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123" name="Google Shape;123;g3b86deca15b_1_24"/>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24" name="Google Shape;124;g3b86deca15b_1_24"/>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g3b86deca15b_0_1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System Architecture</a:t>
            </a:r>
            <a:endParaRPr sz="2200">
              <a:latin typeface="Arial"/>
              <a:ea typeface="Arial"/>
              <a:cs typeface="Arial"/>
              <a:sym typeface="Arial"/>
            </a:endParaRPr>
          </a:p>
        </p:txBody>
      </p:sp>
      <p:sp>
        <p:nvSpPr>
          <p:cNvPr id="130" name="Google Shape;130;g3b86deca15b_0_12"/>
          <p:cNvSpPr txBox="1"/>
          <p:nvPr>
            <p:ph idx="1" type="body"/>
          </p:nvPr>
        </p:nvSpPr>
        <p:spPr>
          <a:xfrm>
            <a:off x="351800" y="1356875"/>
            <a:ext cx="4610700" cy="4395900"/>
          </a:xfrm>
          <a:prstGeom prst="rect">
            <a:avLst/>
          </a:prstGeom>
        </p:spPr>
        <p:txBody>
          <a:bodyPr anchorCtr="0" anchor="t" bIns="45700" lIns="91425" spcFirstLastPara="1" rIns="91425" wrap="square" tIns="45700">
            <a:normAutofit/>
          </a:bodyPr>
          <a:lstStyle/>
          <a:p>
            <a:pPr indent="0" lvl="0" marL="0" rtl="0" algn="l">
              <a:lnSpc>
                <a:spcPct val="70000"/>
              </a:lnSpc>
              <a:spcBef>
                <a:spcPts val="1000"/>
              </a:spcBef>
              <a:spcAft>
                <a:spcPts val="0"/>
              </a:spcAft>
              <a:buSzPts val="605"/>
              <a:buNone/>
            </a:pPr>
            <a:r>
              <a:rPr b="1" lang="en-US" sz="1230"/>
              <a:t>SCOPE - &gt; Design </a:t>
            </a:r>
            <a:r>
              <a:rPr b="1" lang="en-US" sz="1230"/>
              <a:t>principles</a:t>
            </a:r>
            <a:endParaRPr b="1" sz="1230"/>
          </a:p>
          <a:p>
            <a:pPr indent="0" lvl="0" marL="0" rtl="0" algn="l">
              <a:lnSpc>
                <a:spcPct val="70000"/>
              </a:lnSpc>
              <a:spcBef>
                <a:spcPts val="1000"/>
              </a:spcBef>
              <a:spcAft>
                <a:spcPts val="0"/>
              </a:spcAft>
              <a:buSzPts val="605"/>
              <a:buNone/>
            </a:pPr>
            <a:r>
              <a:rPr b="1" lang="en-US" sz="1230"/>
              <a:t>GUI / Operator Station</a:t>
            </a:r>
            <a:endParaRPr b="1" sz="1230"/>
          </a:p>
          <a:p>
            <a:pPr indent="-306705" lvl="0" marL="457200" rtl="0" algn="l">
              <a:lnSpc>
                <a:spcPct val="95000"/>
              </a:lnSpc>
              <a:spcBef>
                <a:spcPts val="0"/>
              </a:spcBef>
              <a:spcAft>
                <a:spcPts val="0"/>
              </a:spcAft>
              <a:buSzPts val="1230"/>
              <a:buChar char="●"/>
            </a:pPr>
            <a:r>
              <a:rPr lang="en-US" sz="1230"/>
              <a:t>Create &amp; monitor production orders</a:t>
            </a:r>
            <a:endParaRPr sz="1230"/>
          </a:p>
          <a:p>
            <a:pPr indent="-306705" lvl="0" marL="457200" rtl="0" algn="l">
              <a:lnSpc>
                <a:spcPct val="95000"/>
              </a:lnSpc>
              <a:spcBef>
                <a:spcPts val="0"/>
              </a:spcBef>
              <a:spcAft>
                <a:spcPts val="0"/>
              </a:spcAft>
              <a:buSzPts val="1230"/>
              <a:buChar char="●"/>
            </a:pPr>
            <a:r>
              <a:rPr lang="en-US" sz="1230"/>
              <a:t>Start / control production</a:t>
            </a:r>
            <a:endParaRPr sz="1230"/>
          </a:p>
          <a:p>
            <a:pPr indent="0" lvl="0" marL="0" rtl="0" algn="l">
              <a:lnSpc>
                <a:spcPct val="70000"/>
              </a:lnSpc>
              <a:spcBef>
                <a:spcPts val="1000"/>
              </a:spcBef>
              <a:spcAft>
                <a:spcPts val="0"/>
              </a:spcAft>
              <a:buSzPts val="605"/>
              <a:buNone/>
            </a:pPr>
            <a:r>
              <a:rPr b="1" lang="en-US" sz="1230"/>
              <a:t>Application Layer (Control Logic)</a:t>
            </a:r>
            <a:endParaRPr b="1" sz="1230"/>
          </a:p>
          <a:p>
            <a:pPr indent="-306705" lvl="0" marL="457200" rtl="0" algn="l">
              <a:lnSpc>
                <a:spcPct val="95000"/>
              </a:lnSpc>
              <a:spcBef>
                <a:spcPts val="0"/>
              </a:spcBef>
              <a:spcAft>
                <a:spcPts val="0"/>
              </a:spcAft>
              <a:buSzPts val="1230"/>
              <a:buChar char="●"/>
            </a:pPr>
            <a:r>
              <a:rPr lang="en-US" sz="1230"/>
              <a:t>Reads next queued order</a:t>
            </a:r>
            <a:endParaRPr sz="1230"/>
          </a:p>
          <a:p>
            <a:pPr indent="-306705" lvl="0" marL="457200" rtl="0" algn="l">
              <a:lnSpc>
                <a:spcPct val="95000"/>
              </a:lnSpc>
              <a:spcBef>
                <a:spcPts val="0"/>
              </a:spcBef>
              <a:spcAft>
                <a:spcPts val="0"/>
              </a:spcAft>
              <a:buSzPts val="1230"/>
              <a:buChar char="●"/>
            </a:pPr>
            <a:r>
              <a:rPr lang="en-US" sz="1230"/>
              <a:t>Maps order → predefined robot sequence</a:t>
            </a:r>
            <a:endParaRPr sz="1230"/>
          </a:p>
          <a:p>
            <a:pPr indent="-306705" lvl="0" marL="457200" rtl="0" algn="l">
              <a:lnSpc>
                <a:spcPct val="95000"/>
              </a:lnSpc>
              <a:spcBef>
                <a:spcPts val="0"/>
              </a:spcBef>
              <a:spcAft>
                <a:spcPts val="0"/>
              </a:spcAft>
              <a:buSzPts val="1230"/>
              <a:buChar char="●"/>
            </a:pPr>
            <a:r>
              <a:rPr lang="en-US" sz="1230"/>
              <a:t>Executes robot + updates database</a:t>
            </a:r>
            <a:endParaRPr sz="1230"/>
          </a:p>
          <a:p>
            <a:pPr indent="0" lvl="0" marL="0" rtl="0" algn="l">
              <a:lnSpc>
                <a:spcPct val="70000"/>
              </a:lnSpc>
              <a:spcBef>
                <a:spcPts val="1000"/>
              </a:spcBef>
              <a:spcAft>
                <a:spcPts val="0"/>
              </a:spcAft>
              <a:buSzPts val="605"/>
              <a:buNone/>
            </a:pPr>
            <a:r>
              <a:t/>
            </a:r>
            <a:endParaRPr sz="1230"/>
          </a:p>
          <a:p>
            <a:pPr indent="0" lvl="0" marL="0" rtl="0" algn="l">
              <a:lnSpc>
                <a:spcPct val="70000"/>
              </a:lnSpc>
              <a:spcBef>
                <a:spcPts val="1000"/>
              </a:spcBef>
              <a:spcAft>
                <a:spcPts val="0"/>
              </a:spcAft>
              <a:buSzPts val="605"/>
              <a:buNone/>
            </a:pPr>
            <a:r>
              <a:rPr b="1" lang="en-US" sz="1230"/>
              <a:t>Data Layer (EF Core + SQLite)</a:t>
            </a:r>
            <a:endParaRPr b="1" sz="1230"/>
          </a:p>
          <a:p>
            <a:pPr indent="-306705" lvl="0" marL="457200" rtl="0" algn="l">
              <a:lnSpc>
                <a:spcPct val="95000"/>
              </a:lnSpc>
              <a:spcBef>
                <a:spcPts val="0"/>
              </a:spcBef>
              <a:spcAft>
                <a:spcPts val="0"/>
              </a:spcAft>
              <a:buSzPts val="1230"/>
              <a:buChar char="●"/>
            </a:pPr>
            <a:r>
              <a:rPr lang="en-US" sz="1230"/>
              <a:t>Orders (Queued / Processed)</a:t>
            </a:r>
            <a:endParaRPr sz="1230"/>
          </a:p>
          <a:p>
            <a:pPr indent="-306705" lvl="0" marL="457200" rtl="0" algn="l">
              <a:lnSpc>
                <a:spcPct val="95000"/>
              </a:lnSpc>
              <a:spcBef>
                <a:spcPts val="0"/>
              </a:spcBef>
              <a:spcAft>
                <a:spcPts val="0"/>
              </a:spcAft>
              <a:buSzPts val="1230"/>
              <a:buChar char="●"/>
            </a:pPr>
            <a:r>
              <a:rPr lang="en-US" sz="1230"/>
              <a:t>Inventory &amp; quantities</a:t>
            </a:r>
            <a:endParaRPr sz="1230"/>
          </a:p>
          <a:p>
            <a:pPr indent="-306705" lvl="0" marL="457200" rtl="0" algn="l">
              <a:lnSpc>
                <a:spcPct val="95000"/>
              </a:lnSpc>
              <a:spcBef>
                <a:spcPts val="0"/>
              </a:spcBef>
              <a:spcAft>
                <a:spcPts val="0"/>
              </a:spcAft>
              <a:buSzPts val="1230"/>
              <a:buChar char="●"/>
            </a:pPr>
            <a:r>
              <a:rPr lang="en-US" sz="1230"/>
              <a:t>Persistent system state</a:t>
            </a:r>
            <a:endParaRPr sz="1230"/>
          </a:p>
          <a:p>
            <a:pPr indent="0" lvl="0" marL="0" rtl="0" algn="l">
              <a:lnSpc>
                <a:spcPct val="70000"/>
              </a:lnSpc>
              <a:spcBef>
                <a:spcPts val="1000"/>
              </a:spcBef>
              <a:spcAft>
                <a:spcPts val="0"/>
              </a:spcAft>
              <a:buSzPts val="605"/>
              <a:buNone/>
            </a:pPr>
            <a:r>
              <a:t/>
            </a:r>
            <a:endParaRPr sz="1230"/>
          </a:p>
          <a:p>
            <a:pPr indent="0" lvl="0" marL="0" rtl="0" algn="l">
              <a:lnSpc>
                <a:spcPct val="70000"/>
              </a:lnSpc>
              <a:spcBef>
                <a:spcPts val="1000"/>
              </a:spcBef>
              <a:spcAft>
                <a:spcPts val="0"/>
              </a:spcAft>
              <a:buSzPts val="605"/>
              <a:buNone/>
            </a:pPr>
            <a:r>
              <a:rPr b="1" lang="en-US" sz="1230"/>
              <a:t>Robot Integration Layer</a:t>
            </a:r>
            <a:endParaRPr b="1" sz="1230"/>
          </a:p>
          <a:p>
            <a:pPr indent="-306705" lvl="0" marL="457200" rtl="0" algn="l">
              <a:lnSpc>
                <a:spcPct val="95000"/>
              </a:lnSpc>
              <a:spcBef>
                <a:spcPts val="0"/>
              </a:spcBef>
              <a:spcAft>
                <a:spcPts val="0"/>
              </a:spcAft>
              <a:buSzPts val="1230"/>
              <a:buChar char="●"/>
            </a:pPr>
            <a:r>
              <a:rPr lang="en-US" sz="1230"/>
              <a:t>URScript via TCP/IP</a:t>
            </a:r>
            <a:endParaRPr sz="1230"/>
          </a:p>
          <a:p>
            <a:pPr indent="-306705" lvl="0" marL="457200" rtl="0" algn="l">
              <a:lnSpc>
                <a:spcPct val="95000"/>
              </a:lnSpc>
              <a:spcBef>
                <a:spcPts val="0"/>
              </a:spcBef>
              <a:spcAft>
                <a:spcPts val="0"/>
              </a:spcAft>
              <a:buSzPts val="1230"/>
              <a:buChar char="●"/>
            </a:pPr>
            <a:r>
              <a:rPr lang="en-US" sz="1230"/>
              <a:t>Centralized motion sequences &amp; positions</a:t>
            </a:r>
            <a:endParaRPr sz="1230"/>
          </a:p>
          <a:p>
            <a:pPr indent="-306705" lvl="0" marL="457200" rtl="0" algn="l">
              <a:lnSpc>
                <a:spcPct val="95000"/>
              </a:lnSpc>
              <a:spcBef>
                <a:spcPts val="0"/>
              </a:spcBef>
              <a:spcAft>
                <a:spcPts val="0"/>
              </a:spcAft>
              <a:buSzPts val="1230"/>
              <a:buChar char="●"/>
            </a:pPr>
            <a:r>
              <a:rPr lang="en-US" sz="1230"/>
              <a:t>Deterministic execution per item variant</a:t>
            </a:r>
            <a:endParaRPr b="1" sz="405"/>
          </a:p>
          <a:p>
            <a:pPr indent="0" lvl="0" marL="0" rtl="0" algn="l">
              <a:lnSpc>
                <a:spcPct val="70000"/>
              </a:lnSpc>
              <a:spcBef>
                <a:spcPts val="1000"/>
              </a:spcBef>
              <a:spcAft>
                <a:spcPts val="0"/>
              </a:spcAft>
              <a:buSzPts val="605"/>
              <a:buNone/>
            </a:pPr>
            <a:r>
              <a:t/>
            </a:r>
            <a:endParaRPr b="1" sz="1230"/>
          </a:p>
        </p:txBody>
      </p:sp>
      <p:pic>
        <p:nvPicPr>
          <p:cNvPr descr="RG2 Gripper" id="131" name="Google Shape;131;g3b86deca15b_0_12"/>
          <p:cNvPicPr preferRelativeResize="0"/>
          <p:nvPr/>
        </p:nvPicPr>
        <p:blipFill rotWithShape="1">
          <a:blip r:embed="rId3">
            <a:alphaModFix/>
          </a:blip>
          <a:srcRect b="0" l="0" r="0" t="0"/>
          <a:stretch/>
        </p:blipFill>
        <p:spPr>
          <a:xfrm>
            <a:off x="212975" y="6091825"/>
            <a:ext cx="585701" cy="634501"/>
          </a:xfrm>
          <a:prstGeom prst="rect">
            <a:avLst/>
          </a:prstGeom>
          <a:noFill/>
          <a:ln>
            <a:noFill/>
          </a:ln>
        </p:spPr>
      </p:pic>
      <p:sp>
        <p:nvSpPr>
          <p:cNvPr id="132" name="Google Shape;132;g3b86deca15b_0_1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33" name="Google Shape;133;g3b86deca15b_0_12"/>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134" name="Google Shape;134;g3b86deca15b_0_12"/>
          <p:cNvSpPr txBox="1"/>
          <p:nvPr/>
        </p:nvSpPr>
        <p:spPr>
          <a:xfrm>
            <a:off x="798675" y="5472975"/>
            <a:ext cx="4227600" cy="20985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1000"/>
              </a:spcBef>
              <a:spcAft>
                <a:spcPts val="0"/>
              </a:spcAft>
              <a:buClr>
                <a:schemeClr val="dk1"/>
              </a:buClr>
              <a:buSzPts val="1100"/>
              <a:buFont typeface="Arial"/>
              <a:buNone/>
            </a:pPr>
            <a:r>
              <a:rPr b="1" lang="en-US">
                <a:solidFill>
                  <a:schemeClr val="dk1"/>
                </a:solidFill>
              </a:rPr>
              <a:t>Design Principles</a:t>
            </a:r>
            <a:endParaRPr b="1">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Single source of truth: Database</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Clear separation of concerns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Traceability &amp; restart-safe operation</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Robot logic decoupled from UI &amp; data</a:t>
            </a:r>
            <a:r>
              <a:rPr b="1" lang="en-US">
                <a:solidFill>
                  <a:schemeClr val="dk1"/>
                </a:solidFill>
              </a:rPr>
              <a:t> </a:t>
            </a:r>
            <a:endParaRPr>
              <a:solidFill>
                <a:schemeClr val="dk1"/>
              </a:solidFill>
            </a:endParaRPr>
          </a:p>
        </p:txBody>
      </p:sp>
      <p:pic>
        <p:nvPicPr>
          <p:cNvPr id="135" name="Google Shape;135;g3b86deca15b_0_12" title="Skærmbillede 2026-01-19 kl. 10.15.44.png"/>
          <p:cNvPicPr preferRelativeResize="0"/>
          <p:nvPr/>
        </p:nvPicPr>
        <p:blipFill>
          <a:blip r:embed="rId5">
            <a:alphaModFix/>
          </a:blip>
          <a:stretch>
            <a:fillRect/>
          </a:stretch>
        </p:blipFill>
        <p:spPr>
          <a:xfrm>
            <a:off x="4962500" y="702621"/>
            <a:ext cx="5263113" cy="3572153"/>
          </a:xfrm>
          <a:prstGeom prst="rect">
            <a:avLst/>
          </a:prstGeom>
          <a:noFill/>
          <a:ln>
            <a:noFill/>
          </a:ln>
        </p:spPr>
      </p:pic>
      <p:sp>
        <p:nvSpPr>
          <p:cNvPr id="136" name="Google Shape;136;g3b86deca15b_0_12"/>
          <p:cNvSpPr/>
          <p:nvPr/>
        </p:nvSpPr>
        <p:spPr>
          <a:xfrm>
            <a:off x="4576933" y="4946471"/>
            <a:ext cx="1213200" cy="892800"/>
          </a:xfrm>
          <a:prstGeom prst="rect">
            <a:avLst/>
          </a:prstGeom>
          <a:solidFill>
            <a:schemeClr val="lt2"/>
          </a:solidFill>
          <a:ln cap="flat" cmpd="sng" w="11150">
            <a:solidFill>
              <a:schemeClr val="dk2"/>
            </a:solidFill>
            <a:prstDash val="solid"/>
            <a:round/>
            <a:headEnd len="sm" w="sm" type="none"/>
            <a:tailEnd len="sm" w="sm" type="none"/>
          </a:ln>
        </p:spPr>
        <p:txBody>
          <a:bodyPr anchorCtr="0" anchor="ctr" bIns="106925" lIns="106925" spcFirstLastPara="1" rIns="106925" wrap="square" tIns="106925">
            <a:noAutofit/>
          </a:bodyPr>
          <a:lstStyle/>
          <a:p>
            <a:pPr indent="0" lvl="0" marL="0" rtl="0" algn="ctr">
              <a:spcBef>
                <a:spcPts val="0"/>
              </a:spcBef>
              <a:spcAft>
                <a:spcPts val="0"/>
              </a:spcAft>
              <a:buNone/>
            </a:pPr>
            <a:r>
              <a:rPr lang="en-US" sz="1637"/>
              <a:t>Operator (GUI)</a:t>
            </a:r>
            <a:endParaRPr sz="1637"/>
          </a:p>
        </p:txBody>
      </p:sp>
      <p:sp>
        <p:nvSpPr>
          <p:cNvPr id="137" name="Google Shape;137;g3b86deca15b_0_12"/>
          <p:cNvSpPr/>
          <p:nvPr/>
        </p:nvSpPr>
        <p:spPr>
          <a:xfrm>
            <a:off x="6296960" y="4946471"/>
            <a:ext cx="1213200" cy="892800"/>
          </a:xfrm>
          <a:prstGeom prst="rect">
            <a:avLst/>
          </a:prstGeom>
          <a:solidFill>
            <a:schemeClr val="lt2"/>
          </a:solidFill>
          <a:ln cap="flat" cmpd="sng" w="11150">
            <a:solidFill>
              <a:schemeClr val="dk2"/>
            </a:solidFill>
            <a:prstDash val="solid"/>
            <a:round/>
            <a:headEnd len="sm" w="sm" type="none"/>
            <a:tailEnd len="sm" w="sm" type="none"/>
          </a:ln>
        </p:spPr>
        <p:txBody>
          <a:bodyPr anchorCtr="0" anchor="ctr" bIns="106925" lIns="106925" spcFirstLastPara="1" rIns="106925" wrap="square" tIns="106925">
            <a:noAutofit/>
          </a:bodyPr>
          <a:lstStyle/>
          <a:p>
            <a:pPr indent="0" lvl="0" marL="0" rtl="0" algn="ctr">
              <a:spcBef>
                <a:spcPts val="0"/>
              </a:spcBef>
              <a:spcAft>
                <a:spcPts val="0"/>
              </a:spcAft>
              <a:buNone/>
            </a:pPr>
            <a:r>
              <a:rPr lang="en-US" sz="1637"/>
              <a:t>SQLite Database</a:t>
            </a:r>
            <a:endParaRPr sz="1637"/>
          </a:p>
        </p:txBody>
      </p:sp>
      <p:sp>
        <p:nvSpPr>
          <p:cNvPr id="138" name="Google Shape;138;g3b86deca15b_0_12"/>
          <p:cNvSpPr/>
          <p:nvPr/>
        </p:nvSpPr>
        <p:spPr>
          <a:xfrm>
            <a:off x="7869365" y="4946471"/>
            <a:ext cx="1213200" cy="892800"/>
          </a:xfrm>
          <a:prstGeom prst="rect">
            <a:avLst/>
          </a:prstGeom>
          <a:solidFill>
            <a:schemeClr val="lt2"/>
          </a:solidFill>
          <a:ln cap="flat" cmpd="sng" w="11150">
            <a:solidFill>
              <a:schemeClr val="dk2"/>
            </a:solidFill>
            <a:prstDash val="solid"/>
            <a:round/>
            <a:headEnd len="sm" w="sm" type="none"/>
            <a:tailEnd len="sm" w="sm" type="none"/>
          </a:ln>
        </p:spPr>
        <p:txBody>
          <a:bodyPr anchorCtr="0" anchor="ctr" bIns="106925" lIns="106925" spcFirstLastPara="1" rIns="106925" wrap="square" tIns="106925">
            <a:noAutofit/>
          </a:bodyPr>
          <a:lstStyle/>
          <a:p>
            <a:pPr indent="0" lvl="0" marL="0" rtl="0" algn="ctr">
              <a:spcBef>
                <a:spcPts val="0"/>
              </a:spcBef>
              <a:spcAft>
                <a:spcPts val="0"/>
              </a:spcAft>
              <a:buNone/>
            </a:pPr>
            <a:r>
              <a:rPr lang="en-US" sz="1637"/>
              <a:t>Application Logic</a:t>
            </a:r>
            <a:endParaRPr sz="1637"/>
          </a:p>
        </p:txBody>
      </p:sp>
      <p:sp>
        <p:nvSpPr>
          <p:cNvPr id="139" name="Google Shape;139;g3b86deca15b_0_12"/>
          <p:cNvSpPr/>
          <p:nvPr/>
        </p:nvSpPr>
        <p:spPr>
          <a:xfrm>
            <a:off x="9376161" y="4946471"/>
            <a:ext cx="1213200" cy="892800"/>
          </a:xfrm>
          <a:prstGeom prst="rect">
            <a:avLst/>
          </a:prstGeom>
          <a:solidFill>
            <a:schemeClr val="lt2"/>
          </a:solidFill>
          <a:ln cap="flat" cmpd="sng" w="11150">
            <a:solidFill>
              <a:schemeClr val="dk2"/>
            </a:solidFill>
            <a:prstDash val="solid"/>
            <a:round/>
            <a:headEnd len="sm" w="sm" type="none"/>
            <a:tailEnd len="sm" w="sm" type="none"/>
          </a:ln>
        </p:spPr>
        <p:txBody>
          <a:bodyPr anchorCtr="0" anchor="ctr" bIns="106925" lIns="106925" spcFirstLastPara="1" rIns="106925" wrap="square" tIns="106925">
            <a:noAutofit/>
          </a:bodyPr>
          <a:lstStyle/>
          <a:p>
            <a:pPr indent="0" lvl="0" marL="0" rtl="0" algn="ctr">
              <a:spcBef>
                <a:spcPts val="0"/>
              </a:spcBef>
              <a:spcAft>
                <a:spcPts val="0"/>
              </a:spcAft>
              <a:buNone/>
            </a:pPr>
            <a:r>
              <a:rPr lang="en-US" sz="1637"/>
              <a:t>UR Robot</a:t>
            </a:r>
            <a:endParaRPr sz="1637"/>
          </a:p>
        </p:txBody>
      </p:sp>
      <p:sp>
        <p:nvSpPr>
          <p:cNvPr id="140" name="Google Shape;140;g3b86deca15b_0_12"/>
          <p:cNvSpPr/>
          <p:nvPr/>
        </p:nvSpPr>
        <p:spPr>
          <a:xfrm>
            <a:off x="10796311" y="4946471"/>
            <a:ext cx="1213200" cy="892800"/>
          </a:xfrm>
          <a:prstGeom prst="rect">
            <a:avLst/>
          </a:prstGeom>
          <a:solidFill>
            <a:schemeClr val="lt2"/>
          </a:solidFill>
          <a:ln cap="flat" cmpd="sng" w="11150">
            <a:solidFill>
              <a:schemeClr val="dk2"/>
            </a:solidFill>
            <a:prstDash val="solid"/>
            <a:round/>
            <a:headEnd len="sm" w="sm" type="none"/>
            <a:tailEnd len="sm" w="sm" type="none"/>
          </a:ln>
        </p:spPr>
        <p:txBody>
          <a:bodyPr anchorCtr="0" anchor="ctr" bIns="106925" lIns="106925" spcFirstLastPara="1" rIns="106925" wrap="square" tIns="106925">
            <a:noAutofit/>
          </a:bodyPr>
          <a:lstStyle/>
          <a:p>
            <a:pPr indent="0" lvl="0" marL="0" rtl="0" algn="ctr">
              <a:spcBef>
                <a:spcPts val="0"/>
              </a:spcBef>
              <a:spcAft>
                <a:spcPts val="0"/>
              </a:spcAft>
              <a:buNone/>
            </a:pPr>
            <a:r>
              <a:rPr lang="en-US" sz="1637"/>
              <a:t>GUi Update</a:t>
            </a:r>
            <a:endParaRPr sz="1637"/>
          </a:p>
        </p:txBody>
      </p:sp>
      <p:cxnSp>
        <p:nvCxnSpPr>
          <p:cNvPr id="141" name="Google Shape;141;g3b86deca15b_0_12"/>
          <p:cNvCxnSpPr>
            <a:stCxn id="136" idx="3"/>
            <a:endCxn id="137" idx="1"/>
          </p:cNvCxnSpPr>
          <p:nvPr/>
        </p:nvCxnSpPr>
        <p:spPr>
          <a:xfrm>
            <a:off x="5790133" y="5392871"/>
            <a:ext cx="506700" cy="0"/>
          </a:xfrm>
          <a:prstGeom prst="straightConnector1">
            <a:avLst/>
          </a:prstGeom>
          <a:noFill/>
          <a:ln cap="flat" cmpd="sng" w="9525">
            <a:solidFill>
              <a:schemeClr val="dk2"/>
            </a:solidFill>
            <a:prstDash val="solid"/>
            <a:round/>
            <a:headEnd len="med" w="med" type="none"/>
            <a:tailEnd len="med" w="med" type="triangle"/>
          </a:ln>
        </p:spPr>
      </p:cxnSp>
      <p:cxnSp>
        <p:nvCxnSpPr>
          <p:cNvPr id="142" name="Google Shape;142;g3b86deca15b_0_12"/>
          <p:cNvCxnSpPr>
            <a:endCxn id="138" idx="1"/>
          </p:cNvCxnSpPr>
          <p:nvPr/>
        </p:nvCxnSpPr>
        <p:spPr>
          <a:xfrm>
            <a:off x="7488365" y="5392871"/>
            <a:ext cx="381000" cy="0"/>
          </a:xfrm>
          <a:prstGeom prst="straightConnector1">
            <a:avLst/>
          </a:prstGeom>
          <a:noFill/>
          <a:ln cap="flat" cmpd="sng" w="9525">
            <a:solidFill>
              <a:schemeClr val="dk2"/>
            </a:solidFill>
            <a:prstDash val="solid"/>
            <a:round/>
            <a:headEnd len="med" w="med" type="none"/>
            <a:tailEnd len="med" w="med" type="triangle"/>
          </a:ln>
        </p:spPr>
      </p:cxnSp>
      <p:cxnSp>
        <p:nvCxnSpPr>
          <p:cNvPr id="143" name="Google Shape;143;g3b86deca15b_0_12"/>
          <p:cNvCxnSpPr>
            <a:stCxn id="138" idx="3"/>
            <a:endCxn id="139" idx="1"/>
          </p:cNvCxnSpPr>
          <p:nvPr/>
        </p:nvCxnSpPr>
        <p:spPr>
          <a:xfrm>
            <a:off x="9082565" y="5392871"/>
            <a:ext cx="293700" cy="0"/>
          </a:xfrm>
          <a:prstGeom prst="straightConnector1">
            <a:avLst/>
          </a:prstGeom>
          <a:noFill/>
          <a:ln cap="flat" cmpd="sng" w="9525">
            <a:solidFill>
              <a:schemeClr val="dk2"/>
            </a:solidFill>
            <a:prstDash val="solid"/>
            <a:round/>
            <a:headEnd len="med" w="med" type="none"/>
            <a:tailEnd len="med" w="med" type="triangle"/>
          </a:ln>
        </p:spPr>
      </p:cxnSp>
      <p:cxnSp>
        <p:nvCxnSpPr>
          <p:cNvPr id="144" name="Google Shape;144;g3b86deca15b_0_12"/>
          <p:cNvCxnSpPr>
            <a:endCxn id="140" idx="1"/>
          </p:cNvCxnSpPr>
          <p:nvPr/>
        </p:nvCxnSpPr>
        <p:spPr>
          <a:xfrm>
            <a:off x="10576711" y="5392871"/>
            <a:ext cx="219600" cy="0"/>
          </a:xfrm>
          <a:prstGeom prst="straightConnector1">
            <a:avLst/>
          </a:prstGeom>
          <a:noFill/>
          <a:ln cap="flat" cmpd="sng" w="9525">
            <a:solidFill>
              <a:schemeClr val="dk2"/>
            </a:solidFill>
            <a:prstDash val="solid"/>
            <a:round/>
            <a:headEnd len="med" w="med" type="none"/>
            <a:tailEnd len="med" w="med" type="triangle"/>
          </a:ln>
        </p:spPr>
      </p:cxnSp>
      <p:sp>
        <p:nvSpPr>
          <p:cNvPr id="145" name="Google Shape;145;g3b86deca15b_0_12"/>
          <p:cNvSpPr txBox="1"/>
          <p:nvPr/>
        </p:nvSpPr>
        <p:spPr>
          <a:xfrm>
            <a:off x="4576925" y="4274774"/>
            <a:ext cx="3251400" cy="597900"/>
          </a:xfrm>
          <a:prstGeom prst="rect">
            <a:avLst/>
          </a:prstGeom>
          <a:noFill/>
          <a:ln>
            <a:noFill/>
          </a:ln>
        </p:spPr>
        <p:txBody>
          <a:bodyPr anchorCtr="0" anchor="t" bIns="86175" lIns="86175" spcFirstLastPara="1" rIns="86175" wrap="square" tIns="86175">
            <a:noAutofit/>
          </a:bodyPr>
          <a:lstStyle/>
          <a:p>
            <a:pPr indent="0" lvl="0" marL="0" rtl="0" algn="l">
              <a:spcBef>
                <a:spcPts val="0"/>
              </a:spcBef>
              <a:spcAft>
                <a:spcPts val="0"/>
              </a:spcAft>
              <a:buNone/>
            </a:pPr>
            <a:r>
              <a:rPr lang="en-US" sz="2638">
                <a:solidFill>
                  <a:schemeClr val="dk1"/>
                </a:solidFill>
                <a:latin typeface="Times New Roman"/>
                <a:ea typeface="Times New Roman"/>
                <a:cs typeface="Times New Roman"/>
                <a:sym typeface="Times New Roman"/>
              </a:rPr>
              <a:t>Production flow:</a:t>
            </a:r>
            <a:endParaRPr sz="2638">
              <a:solidFill>
                <a:schemeClr val="dk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g3b86deca15b_0_27"/>
          <p:cNvSpPr txBox="1"/>
          <p:nvPr>
            <p:ph type="title"/>
          </p:nvPr>
        </p:nvSpPr>
        <p:spPr>
          <a:xfrm>
            <a:off x="397600" y="2758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400"/>
              </a:spcBef>
              <a:spcAft>
                <a:spcPts val="1100"/>
              </a:spcAft>
              <a:buClr>
                <a:schemeClr val="dk1"/>
              </a:buClr>
              <a:buSzPts val="1500"/>
              <a:buFont typeface="Arial"/>
              <a:buNone/>
            </a:pPr>
            <a:r>
              <a:rPr b="1" lang="en-US" sz="2200">
                <a:latin typeface="Arial"/>
                <a:ea typeface="Arial"/>
                <a:cs typeface="Arial"/>
                <a:sym typeface="Arial"/>
              </a:rPr>
              <a:t>Domain / Inventory</a:t>
            </a:r>
            <a:endParaRPr sz="2200">
              <a:latin typeface="Arial"/>
              <a:ea typeface="Arial"/>
              <a:cs typeface="Arial"/>
              <a:sym typeface="Arial"/>
            </a:endParaRPr>
          </a:p>
        </p:txBody>
      </p:sp>
      <p:sp>
        <p:nvSpPr>
          <p:cNvPr id="151" name="Google Shape;151;g3b86deca15b_0_27"/>
          <p:cNvSpPr txBox="1"/>
          <p:nvPr>
            <p:ph idx="1" type="body"/>
          </p:nvPr>
        </p:nvSpPr>
        <p:spPr>
          <a:xfrm>
            <a:off x="415600" y="1135500"/>
            <a:ext cx="3854700" cy="4469400"/>
          </a:xfrm>
          <a:prstGeom prst="rect">
            <a:avLst/>
          </a:prstGeom>
        </p:spPr>
        <p:txBody>
          <a:bodyPr anchorCtr="0" anchor="t" bIns="45700" lIns="91425" spcFirstLastPara="1" rIns="91425" wrap="square" tIns="45700">
            <a:noAutofit/>
          </a:bodyPr>
          <a:lstStyle/>
          <a:p>
            <a:pPr indent="0" lvl="0" marL="0" rtl="0" algn="l">
              <a:lnSpc>
                <a:spcPct val="95000"/>
              </a:lnSpc>
              <a:spcBef>
                <a:spcPts val="1800"/>
              </a:spcBef>
              <a:spcAft>
                <a:spcPts val="0"/>
              </a:spcAft>
              <a:buClr>
                <a:schemeClr val="dk1"/>
              </a:buClr>
              <a:buSzPts val="275"/>
              <a:buFont typeface="Arial"/>
              <a:buNone/>
            </a:pPr>
            <a:r>
              <a:rPr b="1" lang="en-US" sz="1200"/>
              <a:t>Domain Model – Core Business Logic: </a:t>
            </a:r>
            <a:r>
              <a:rPr lang="en-US" sz="1200"/>
              <a:t>What is produced and in which order, rather than robot assembly. Independent of gui and robot.</a:t>
            </a:r>
            <a:endParaRPr sz="1200"/>
          </a:p>
          <a:p>
            <a:pPr indent="0" lvl="0" marL="0" rtl="0" algn="l">
              <a:lnSpc>
                <a:spcPct val="95000"/>
              </a:lnSpc>
              <a:spcBef>
                <a:spcPts val="1400"/>
              </a:spcBef>
              <a:spcAft>
                <a:spcPts val="0"/>
              </a:spcAft>
              <a:buClr>
                <a:schemeClr val="dk1"/>
              </a:buClr>
              <a:buSzPts val="275"/>
              <a:buFont typeface="Arial"/>
              <a:buNone/>
            </a:pPr>
            <a:r>
              <a:rPr b="1" lang="en-US" sz="1200"/>
              <a:t>Inventory Model</a:t>
            </a:r>
            <a:endParaRPr b="1" sz="1200"/>
          </a:p>
          <a:p>
            <a:pPr indent="-304800" lvl="0" marL="457200" rtl="0" algn="l">
              <a:lnSpc>
                <a:spcPct val="95000"/>
              </a:lnSpc>
              <a:spcBef>
                <a:spcPts val="1200"/>
              </a:spcBef>
              <a:spcAft>
                <a:spcPts val="0"/>
              </a:spcAft>
              <a:buSzPts val="1200"/>
              <a:buChar char="●"/>
            </a:pPr>
            <a:r>
              <a:rPr lang="en-US" sz="1200"/>
              <a:t>Represents physical components used in production</a:t>
            </a:r>
            <a:endParaRPr sz="1200"/>
          </a:p>
          <a:p>
            <a:pPr indent="-304800" lvl="0" marL="457200" rtl="0" algn="l">
              <a:lnSpc>
                <a:spcPct val="95000"/>
              </a:lnSpc>
              <a:spcBef>
                <a:spcPts val="0"/>
              </a:spcBef>
              <a:spcAft>
                <a:spcPts val="0"/>
              </a:spcAft>
              <a:buSzPts val="1200"/>
              <a:buChar char="●"/>
            </a:pPr>
            <a:r>
              <a:rPr lang="en-US" sz="1200"/>
              <a:t>Inventory = collection of items + quantities</a:t>
            </a:r>
            <a:endParaRPr sz="1200"/>
          </a:p>
          <a:p>
            <a:pPr indent="-304800" lvl="0" marL="457200" rtl="0" algn="l">
              <a:lnSpc>
                <a:spcPct val="95000"/>
              </a:lnSpc>
              <a:spcBef>
                <a:spcPts val="0"/>
              </a:spcBef>
              <a:spcAft>
                <a:spcPts val="0"/>
              </a:spcAft>
              <a:buSzPts val="1200"/>
              <a:buChar char="●"/>
            </a:pPr>
            <a:r>
              <a:rPr lang="en-US" sz="1200"/>
              <a:t>Common item abstraction with optional specialization</a:t>
            </a:r>
            <a:endParaRPr sz="1200"/>
          </a:p>
          <a:p>
            <a:pPr indent="-304800" lvl="0" marL="457200" rtl="0" algn="l">
              <a:lnSpc>
                <a:spcPct val="95000"/>
              </a:lnSpc>
              <a:spcBef>
                <a:spcPts val="0"/>
              </a:spcBef>
              <a:spcAft>
                <a:spcPts val="0"/>
              </a:spcAft>
              <a:buSzPts val="1200"/>
              <a:buChar char="●"/>
            </a:pPr>
            <a:r>
              <a:rPr lang="en-US" sz="1200"/>
              <a:t>Tracks stock an updates when orders are processed.</a:t>
            </a:r>
            <a:endParaRPr sz="1200"/>
          </a:p>
          <a:p>
            <a:pPr indent="0" lvl="0" marL="0" rtl="0" algn="l">
              <a:lnSpc>
                <a:spcPct val="95000"/>
              </a:lnSpc>
              <a:spcBef>
                <a:spcPts val="1200"/>
              </a:spcBef>
              <a:spcAft>
                <a:spcPts val="0"/>
              </a:spcAft>
              <a:buClr>
                <a:schemeClr val="dk1"/>
              </a:buClr>
              <a:buSzPts val="275"/>
              <a:buFont typeface="Arial"/>
              <a:buNone/>
            </a:pPr>
            <a:r>
              <a:t/>
            </a:r>
            <a:endParaRPr b="1" sz="1200"/>
          </a:p>
          <a:p>
            <a:pPr indent="0" lvl="0" marL="0" rtl="0" algn="l">
              <a:lnSpc>
                <a:spcPct val="70000"/>
              </a:lnSpc>
              <a:spcBef>
                <a:spcPts val="1200"/>
              </a:spcBef>
              <a:spcAft>
                <a:spcPts val="0"/>
              </a:spcAft>
              <a:buClr>
                <a:schemeClr val="dk1"/>
              </a:buClr>
              <a:buSzPts val="275"/>
              <a:buFont typeface="Arial"/>
              <a:buNone/>
            </a:pPr>
            <a:r>
              <a:t/>
            </a:r>
            <a:endParaRPr sz="1200"/>
          </a:p>
          <a:p>
            <a:pPr indent="0" lvl="0" marL="0" rtl="0" algn="l">
              <a:lnSpc>
                <a:spcPct val="70000"/>
              </a:lnSpc>
              <a:spcBef>
                <a:spcPts val="1000"/>
              </a:spcBef>
              <a:spcAft>
                <a:spcPts val="0"/>
              </a:spcAft>
              <a:buSzPts val="275"/>
              <a:buNone/>
            </a:pPr>
            <a:r>
              <a:t/>
            </a:r>
            <a:endParaRPr b="1" sz="1200"/>
          </a:p>
        </p:txBody>
      </p:sp>
      <p:sp>
        <p:nvSpPr>
          <p:cNvPr id="152" name="Google Shape;152;g3b86deca15b_0_2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53" name="Google Shape;153;g3b86deca15b_0_27"/>
          <p:cNvPicPr preferRelativeResize="0"/>
          <p:nvPr/>
        </p:nvPicPr>
        <p:blipFill rotWithShape="1">
          <a:blip r:embed="rId3">
            <a:alphaModFix/>
          </a:blip>
          <a:srcRect b="0" l="0" r="0" t="0"/>
          <a:stretch/>
        </p:blipFill>
        <p:spPr>
          <a:xfrm>
            <a:off x="10377126" y="338195"/>
            <a:ext cx="1442966" cy="1612515"/>
          </a:xfrm>
          <a:prstGeom prst="rect">
            <a:avLst/>
          </a:prstGeom>
          <a:noFill/>
          <a:ln>
            <a:noFill/>
          </a:ln>
        </p:spPr>
      </p:pic>
      <p:pic>
        <p:nvPicPr>
          <p:cNvPr id="154" name="Google Shape;154;g3b86deca15b_0_27"/>
          <p:cNvPicPr preferRelativeResize="0"/>
          <p:nvPr/>
        </p:nvPicPr>
        <p:blipFill>
          <a:blip r:embed="rId4">
            <a:alphaModFix/>
          </a:blip>
          <a:stretch>
            <a:fillRect/>
          </a:stretch>
        </p:blipFill>
        <p:spPr>
          <a:xfrm>
            <a:off x="756002" y="4045450"/>
            <a:ext cx="10648801" cy="2812550"/>
          </a:xfrm>
          <a:prstGeom prst="rect">
            <a:avLst/>
          </a:prstGeom>
          <a:noFill/>
          <a:ln>
            <a:noFill/>
          </a:ln>
        </p:spPr>
      </p:pic>
      <p:sp>
        <p:nvSpPr>
          <p:cNvPr id="155" name="Google Shape;155;g3b86deca15b_0_27"/>
          <p:cNvSpPr txBox="1"/>
          <p:nvPr/>
        </p:nvSpPr>
        <p:spPr>
          <a:xfrm>
            <a:off x="4717125" y="1900725"/>
            <a:ext cx="4551000" cy="14919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200"/>
              </a:spcBef>
              <a:spcAft>
                <a:spcPts val="1200"/>
              </a:spcAft>
              <a:buNone/>
            </a:pPr>
            <a:r>
              <a:t/>
            </a:r>
            <a:endParaRPr sz="1200">
              <a:solidFill>
                <a:schemeClr val="dk1"/>
              </a:solidFill>
            </a:endParaRPr>
          </a:p>
        </p:txBody>
      </p:sp>
      <p:sp>
        <p:nvSpPr>
          <p:cNvPr id="156" name="Google Shape;156;g3b86deca15b_0_27"/>
          <p:cNvSpPr txBox="1"/>
          <p:nvPr/>
        </p:nvSpPr>
        <p:spPr>
          <a:xfrm>
            <a:off x="4812800" y="945175"/>
            <a:ext cx="4665000" cy="36552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275"/>
              <a:buFont typeface="Arial"/>
              <a:buNone/>
            </a:pPr>
            <a:r>
              <a:rPr b="1" lang="en-US" sz="1200">
                <a:solidFill>
                  <a:schemeClr val="dk1"/>
                </a:solidFill>
              </a:rPr>
              <a:t>OrderBook &amp; Order States</a:t>
            </a:r>
            <a:endParaRPr b="1" sz="1200">
              <a:solidFill>
                <a:schemeClr val="dk1"/>
              </a:solidFill>
            </a:endParaRPr>
          </a:p>
          <a:p>
            <a:pPr indent="-304800" lvl="0" marL="457200" rtl="0" algn="l">
              <a:lnSpc>
                <a:spcPct val="95000"/>
              </a:lnSpc>
              <a:spcBef>
                <a:spcPts val="1200"/>
              </a:spcBef>
              <a:spcAft>
                <a:spcPts val="0"/>
              </a:spcAft>
              <a:buClr>
                <a:schemeClr val="dk1"/>
              </a:buClr>
              <a:buSzPts val="1200"/>
              <a:buChar char="●"/>
            </a:pPr>
            <a:r>
              <a:rPr lang="en-US" sz="1200">
                <a:solidFill>
                  <a:schemeClr val="dk1"/>
                </a:solidFill>
              </a:rPr>
              <a:t>Central production flow controller</a:t>
            </a:r>
            <a:endParaRPr sz="1200">
              <a:solidFill>
                <a:schemeClr val="dk1"/>
              </a:solidFill>
            </a:endParaRPr>
          </a:p>
          <a:p>
            <a:pPr indent="0" lvl="0" marL="0" rtl="0" algn="l">
              <a:lnSpc>
                <a:spcPct val="95000"/>
              </a:lnSpc>
              <a:spcBef>
                <a:spcPts val="1200"/>
              </a:spcBef>
              <a:spcAft>
                <a:spcPts val="0"/>
              </a:spcAft>
              <a:buClr>
                <a:schemeClr val="dk1"/>
              </a:buClr>
              <a:buSzPts val="275"/>
              <a:buFont typeface="Arial"/>
              <a:buNone/>
            </a:pPr>
            <a:r>
              <a:rPr b="1" lang="en-US" sz="1200">
                <a:solidFill>
                  <a:schemeClr val="dk1"/>
                </a:solidFill>
              </a:rPr>
              <a:t>Two states</a:t>
            </a:r>
            <a:endParaRPr b="1" sz="1200">
              <a:solidFill>
                <a:schemeClr val="dk1"/>
              </a:solidFill>
            </a:endParaRPr>
          </a:p>
          <a:p>
            <a:pPr indent="-304800" lvl="0" marL="457200" rtl="0" algn="l">
              <a:lnSpc>
                <a:spcPct val="95000"/>
              </a:lnSpc>
              <a:spcBef>
                <a:spcPts val="1200"/>
              </a:spcBef>
              <a:spcAft>
                <a:spcPts val="0"/>
              </a:spcAft>
              <a:buClr>
                <a:schemeClr val="dk1"/>
              </a:buClr>
              <a:buSzPts val="1200"/>
              <a:buChar char="●"/>
            </a:pPr>
            <a:r>
              <a:rPr lang="en-US" sz="1200">
                <a:solidFill>
                  <a:schemeClr val="dk1"/>
                </a:solidFill>
              </a:rPr>
              <a:t>Queued Orders (pending)</a:t>
            </a:r>
            <a:endParaRPr sz="1200">
              <a:solidFill>
                <a:schemeClr val="dk1"/>
              </a:solidFill>
            </a:endParaRPr>
          </a:p>
          <a:p>
            <a:pPr indent="-304800" lvl="0" marL="457200" rtl="0" algn="l">
              <a:lnSpc>
                <a:spcPct val="95000"/>
              </a:lnSpc>
              <a:spcBef>
                <a:spcPts val="0"/>
              </a:spcBef>
              <a:spcAft>
                <a:spcPts val="0"/>
              </a:spcAft>
              <a:buClr>
                <a:schemeClr val="dk1"/>
              </a:buClr>
              <a:buSzPts val="1200"/>
              <a:buChar char="●"/>
            </a:pPr>
            <a:r>
              <a:rPr lang="en-US" sz="1200">
                <a:solidFill>
                  <a:schemeClr val="dk1"/>
                </a:solidFill>
              </a:rPr>
              <a:t>Processed Orders (completed)</a:t>
            </a:r>
            <a:endParaRPr sz="1200">
              <a:solidFill>
                <a:schemeClr val="dk1"/>
              </a:solidFill>
            </a:endParaRPr>
          </a:p>
          <a:p>
            <a:pPr indent="0" lvl="0" marL="0" rtl="0" algn="l">
              <a:lnSpc>
                <a:spcPct val="95000"/>
              </a:lnSpc>
              <a:spcBef>
                <a:spcPts val="1200"/>
              </a:spcBef>
              <a:spcAft>
                <a:spcPts val="0"/>
              </a:spcAft>
              <a:buClr>
                <a:schemeClr val="dk1"/>
              </a:buClr>
              <a:buSzPts val="275"/>
              <a:buFont typeface="Arial"/>
              <a:buNone/>
            </a:pPr>
            <a:r>
              <a:rPr b="1" lang="en-US" sz="1200">
                <a:solidFill>
                  <a:schemeClr val="dk1"/>
                </a:solidFill>
              </a:rPr>
              <a:t>Characteristics</a:t>
            </a:r>
            <a:endParaRPr b="1" sz="1200">
              <a:solidFill>
                <a:schemeClr val="dk1"/>
              </a:solidFill>
            </a:endParaRPr>
          </a:p>
          <a:p>
            <a:pPr indent="-304800" lvl="0" marL="457200" rtl="0" algn="l">
              <a:lnSpc>
                <a:spcPct val="115000"/>
              </a:lnSpc>
              <a:spcBef>
                <a:spcPts val="1200"/>
              </a:spcBef>
              <a:spcAft>
                <a:spcPts val="0"/>
              </a:spcAft>
              <a:buClr>
                <a:schemeClr val="dk1"/>
              </a:buClr>
              <a:buSzPts val="1200"/>
              <a:buChar char="●"/>
            </a:pPr>
            <a:r>
              <a:rPr b="1" lang="en-US" sz="1100">
                <a:solidFill>
                  <a:schemeClr val="dk1"/>
                </a:solidFill>
              </a:rPr>
              <a:t>Operator choice:</a:t>
            </a:r>
            <a:r>
              <a:rPr lang="en-US" sz="1100">
                <a:solidFill>
                  <a:schemeClr val="dk1"/>
                </a:solidFill>
              </a:rPr>
              <a:t> the GUI lets the operator </a:t>
            </a:r>
            <a:r>
              <a:rPr i="1" lang="en-US" sz="1100">
                <a:solidFill>
                  <a:schemeClr val="dk1"/>
                </a:solidFill>
              </a:rPr>
              <a:t>compose</a:t>
            </a:r>
            <a:r>
              <a:rPr lang="en-US" sz="1100">
                <a:solidFill>
                  <a:schemeClr val="dk1"/>
                </a:solidFill>
              </a:rPr>
              <a:t> an order (White/Black shell lines) and submit it.</a:t>
            </a:r>
            <a:endParaRPr sz="11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100">
                <a:solidFill>
                  <a:schemeClr val="dk1"/>
                </a:solidFill>
              </a:rPr>
              <a:t>Queue rule:</a:t>
            </a:r>
            <a:r>
              <a:rPr lang="en-US" sz="1100">
                <a:solidFill>
                  <a:schemeClr val="dk1"/>
                </a:solidFill>
              </a:rPr>
              <a:t> once submitted, orders are </a:t>
            </a:r>
            <a:r>
              <a:rPr b="1" lang="en-US" sz="1100">
                <a:solidFill>
                  <a:schemeClr val="dk1"/>
                </a:solidFill>
              </a:rPr>
              <a:t>queued</a:t>
            </a:r>
            <a:r>
              <a:rPr lang="en-US" sz="1100">
                <a:solidFill>
                  <a:schemeClr val="dk1"/>
                </a:solidFill>
              </a:rPr>
              <a:t> and executed </a:t>
            </a:r>
            <a:r>
              <a:rPr b="1" lang="en-US" sz="1100">
                <a:solidFill>
                  <a:schemeClr val="dk1"/>
                </a:solidFill>
              </a:rPr>
              <a:t>FIFO</a:t>
            </a:r>
            <a:r>
              <a:rPr lang="en-US" sz="1100">
                <a:solidFill>
                  <a:schemeClr val="dk1"/>
                </a:solidFill>
              </a:rPr>
              <a:t>.</a:t>
            </a:r>
            <a:endParaRPr sz="11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100">
                <a:solidFill>
                  <a:schemeClr val="dk1"/>
                </a:solidFill>
              </a:rPr>
              <a:t>Traceability:</a:t>
            </a:r>
            <a:r>
              <a:rPr lang="en-US" sz="1100">
                <a:solidFill>
                  <a:schemeClr val="dk1"/>
                </a:solidFill>
              </a:rPr>
              <a:t> queue/processed state is stored in the database (single source of truth).</a:t>
            </a:r>
            <a:endParaRPr sz="2800">
              <a:solidFill>
                <a:schemeClr val="dk1"/>
              </a:solidFill>
            </a:endParaRPr>
          </a:p>
        </p:txBody>
      </p:sp>
      <p:sp>
        <p:nvSpPr>
          <p:cNvPr id="157" name="Google Shape;157;g3b86deca15b_0_27"/>
          <p:cNvSpPr/>
          <p:nvPr/>
        </p:nvSpPr>
        <p:spPr>
          <a:xfrm rot="8645443">
            <a:off x="3406204" y="3780669"/>
            <a:ext cx="1091553" cy="1102119"/>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g3b8f340af85_0_29"/>
          <p:cNvSpPr txBox="1"/>
          <p:nvPr>
            <p:ph type="title"/>
          </p:nvPr>
        </p:nvSpPr>
        <p:spPr>
          <a:xfrm>
            <a:off x="397600" y="2758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400"/>
              </a:spcBef>
              <a:spcAft>
                <a:spcPts val="1100"/>
              </a:spcAft>
              <a:buClr>
                <a:schemeClr val="dk1"/>
              </a:buClr>
              <a:buSzPts val="1500"/>
              <a:buFont typeface="Arial"/>
              <a:buNone/>
            </a:pPr>
            <a:r>
              <a:rPr b="1" lang="en-US" sz="2200">
                <a:latin typeface="Arial"/>
                <a:ea typeface="Arial"/>
                <a:cs typeface="Arial"/>
                <a:sym typeface="Arial"/>
              </a:rPr>
              <a:t>Domain / Inventory</a:t>
            </a:r>
            <a:endParaRPr sz="2200">
              <a:latin typeface="Arial"/>
              <a:ea typeface="Arial"/>
              <a:cs typeface="Arial"/>
              <a:sym typeface="Arial"/>
            </a:endParaRPr>
          </a:p>
        </p:txBody>
      </p:sp>
      <p:sp>
        <p:nvSpPr>
          <p:cNvPr id="163" name="Google Shape;163;g3b8f340af85_0_29"/>
          <p:cNvSpPr txBox="1"/>
          <p:nvPr>
            <p:ph idx="1" type="body"/>
          </p:nvPr>
        </p:nvSpPr>
        <p:spPr>
          <a:xfrm>
            <a:off x="397600" y="1039375"/>
            <a:ext cx="3765300" cy="5190900"/>
          </a:xfrm>
          <a:prstGeom prst="rect">
            <a:avLst/>
          </a:prstGeom>
        </p:spPr>
        <p:txBody>
          <a:bodyPr anchorCtr="0" anchor="t" bIns="45700" lIns="91425" spcFirstLastPara="1" rIns="91425" wrap="square" tIns="45700">
            <a:noAutofit/>
          </a:bodyPr>
          <a:lstStyle/>
          <a:p>
            <a:pPr indent="0" lvl="0" marL="0" rtl="0" algn="l">
              <a:lnSpc>
                <a:spcPct val="95000"/>
              </a:lnSpc>
              <a:spcBef>
                <a:spcPts val="1400"/>
              </a:spcBef>
              <a:spcAft>
                <a:spcPts val="0"/>
              </a:spcAft>
              <a:buClr>
                <a:schemeClr val="dk1"/>
              </a:buClr>
              <a:buSzPts val="275"/>
              <a:buFont typeface="Arial"/>
              <a:buNone/>
            </a:pPr>
            <a:r>
              <a:rPr b="1" lang="en-US" sz="1200"/>
              <a:t>Design Rationale</a:t>
            </a:r>
            <a:endParaRPr b="1" sz="1200"/>
          </a:p>
          <a:p>
            <a:pPr indent="-304800" lvl="0" marL="457200" rtl="0" algn="l">
              <a:lnSpc>
                <a:spcPct val="95000"/>
              </a:lnSpc>
              <a:spcBef>
                <a:spcPts val="1200"/>
              </a:spcBef>
              <a:spcAft>
                <a:spcPts val="0"/>
              </a:spcAft>
              <a:buSzPts val="1200"/>
              <a:buChar char="●"/>
            </a:pPr>
            <a:r>
              <a:rPr lang="en-US" sz="1200"/>
              <a:t>Domain logic isolated from UI and robot execution</a:t>
            </a:r>
            <a:endParaRPr sz="1200"/>
          </a:p>
          <a:p>
            <a:pPr indent="-304800" lvl="0" marL="457200" rtl="0" algn="l">
              <a:lnSpc>
                <a:spcPct val="95000"/>
              </a:lnSpc>
              <a:spcBef>
                <a:spcPts val="0"/>
              </a:spcBef>
              <a:spcAft>
                <a:spcPts val="0"/>
              </a:spcAft>
              <a:buSzPts val="1200"/>
              <a:buChar char="●"/>
            </a:pPr>
            <a:r>
              <a:rPr lang="en-US" sz="1200"/>
              <a:t>Operator control improves transparency, safety, and testing</a:t>
            </a:r>
            <a:endParaRPr sz="1200"/>
          </a:p>
          <a:p>
            <a:pPr indent="-304800" lvl="0" marL="457200" rtl="0" algn="l">
              <a:lnSpc>
                <a:spcPct val="95000"/>
              </a:lnSpc>
              <a:spcBef>
                <a:spcPts val="0"/>
              </a:spcBef>
              <a:spcAft>
                <a:spcPts val="0"/>
              </a:spcAft>
              <a:buSzPts val="1200"/>
              <a:buChar char="●"/>
            </a:pPr>
            <a:r>
              <a:rPr lang="en-US" sz="1200"/>
              <a:t>Deterministic execution with option for future automation</a:t>
            </a:r>
            <a:endParaRPr sz="1200"/>
          </a:p>
          <a:p>
            <a:pPr indent="0" lvl="0" marL="0" rtl="0" algn="l">
              <a:lnSpc>
                <a:spcPct val="95000"/>
              </a:lnSpc>
              <a:spcBef>
                <a:spcPts val="1200"/>
              </a:spcBef>
              <a:spcAft>
                <a:spcPts val="0"/>
              </a:spcAft>
              <a:buClr>
                <a:schemeClr val="dk1"/>
              </a:buClr>
              <a:buSzPts val="275"/>
              <a:buFont typeface="Arial"/>
              <a:buNone/>
            </a:pPr>
            <a:r>
              <a:rPr b="1" lang="en-US" sz="1200"/>
              <a:t>Result:</a:t>
            </a:r>
            <a:br>
              <a:rPr b="1" lang="en-US" sz="1200"/>
            </a:br>
            <a:r>
              <a:rPr lang="en-US" sz="1200"/>
              <a:t>A simplified but realistic production control model combining</a:t>
            </a:r>
            <a:br>
              <a:rPr lang="en-US" sz="1200"/>
            </a:br>
            <a:r>
              <a:rPr b="1" lang="en-US" sz="1200"/>
              <a:t>human supervision + data-driven automation</a:t>
            </a:r>
            <a:endParaRPr sz="1200"/>
          </a:p>
          <a:p>
            <a:pPr indent="0" lvl="0" marL="0" rtl="0" algn="l">
              <a:lnSpc>
                <a:spcPct val="70000"/>
              </a:lnSpc>
              <a:spcBef>
                <a:spcPts val="1200"/>
              </a:spcBef>
              <a:spcAft>
                <a:spcPts val="0"/>
              </a:spcAft>
              <a:buSzPts val="275"/>
              <a:buNone/>
            </a:pPr>
            <a:r>
              <a:t/>
            </a:r>
            <a:endParaRPr b="1" sz="1200"/>
          </a:p>
        </p:txBody>
      </p:sp>
      <p:sp>
        <p:nvSpPr>
          <p:cNvPr id="164" name="Google Shape;164;g3b8f340af85_0_29"/>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65" name="Google Shape;165;g3b8f340af85_0_29"/>
          <p:cNvPicPr preferRelativeResize="0"/>
          <p:nvPr/>
        </p:nvPicPr>
        <p:blipFill rotWithShape="1">
          <a:blip r:embed="rId3">
            <a:alphaModFix/>
          </a:blip>
          <a:srcRect b="0" l="0" r="0" t="0"/>
          <a:stretch/>
        </p:blipFill>
        <p:spPr>
          <a:xfrm>
            <a:off x="10377126" y="338195"/>
            <a:ext cx="1442966" cy="1612515"/>
          </a:xfrm>
          <a:prstGeom prst="rect">
            <a:avLst/>
          </a:prstGeom>
          <a:noFill/>
          <a:ln>
            <a:noFill/>
          </a:ln>
        </p:spPr>
      </p:pic>
      <p:pic>
        <p:nvPicPr>
          <p:cNvPr id="166" name="Google Shape;166;g3b8f340af85_0_29"/>
          <p:cNvPicPr preferRelativeResize="0"/>
          <p:nvPr/>
        </p:nvPicPr>
        <p:blipFill>
          <a:blip r:embed="rId4">
            <a:alphaModFix/>
          </a:blip>
          <a:stretch>
            <a:fillRect/>
          </a:stretch>
        </p:blipFill>
        <p:spPr>
          <a:xfrm>
            <a:off x="397600" y="3691400"/>
            <a:ext cx="11360700" cy="3000562"/>
          </a:xfrm>
          <a:prstGeom prst="rect">
            <a:avLst/>
          </a:prstGeom>
          <a:noFill/>
          <a:ln>
            <a:noFill/>
          </a:ln>
        </p:spPr>
      </p:pic>
      <p:sp>
        <p:nvSpPr>
          <p:cNvPr id="167" name="Google Shape;167;g3b8f340af85_0_29"/>
          <p:cNvSpPr txBox="1"/>
          <p:nvPr/>
        </p:nvSpPr>
        <p:spPr>
          <a:xfrm>
            <a:off x="4312725" y="1039375"/>
            <a:ext cx="6538500" cy="40497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275"/>
              <a:buFont typeface="Arial"/>
              <a:buNone/>
            </a:pPr>
            <a:r>
              <a:rPr b="1" lang="en-US" sz="1200">
                <a:solidFill>
                  <a:schemeClr val="dk1"/>
                </a:solidFill>
              </a:rPr>
              <a:t>Order Model</a:t>
            </a:r>
            <a:endParaRPr b="1" sz="1200">
              <a:solidFill>
                <a:schemeClr val="dk1"/>
              </a:solidFill>
            </a:endParaRPr>
          </a:p>
          <a:p>
            <a:pPr indent="-304800" lvl="0" marL="457200" rtl="0" algn="l">
              <a:lnSpc>
                <a:spcPct val="95000"/>
              </a:lnSpc>
              <a:spcBef>
                <a:spcPts val="1200"/>
              </a:spcBef>
              <a:spcAft>
                <a:spcPts val="0"/>
              </a:spcAft>
              <a:buClr>
                <a:schemeClr val="dk1"/>
              </a:buClr>
              <a:buSzPts val="1200"/>
              <a:buChar char="●"/>
            </a:pPr>
            <a:r>
              <a:rPr b="1" lang="en-US" sz="1200">
                <a:solidFill>
                  <a:schemeClr val="dk1"/>
                </a:solidFill>
              </a:rPr>
              <a:t>Order</a:t>
            </a:r>
            <a:r>
              <a:rPr lang="en-US" sz="1200">
                <a:solidFill>
                  <a:schemeClr val="dk1"/>
                </a:solidFill>
              </a:rPr>
              <a:t> = timestamp + list of </a:t>
            </a:r>
            <a:r>
              <a:rPr b="1" lang="en-US" sz="1200">
                <a:solidFill>
                  <a:schemeClr val="dk1"/>
                </a:solidFill>
              </a:rPr>
              <a:t>OrderLines</a:t>
            </a:r>
            <a:endParaRPr b="1" sz="1200">
              <a:solidFill>
                <a:schemeClr val="dk1"/>
              </a:solidFill>
            </a:endParaRPr>
          </a:p>
          <a:p>
            <a:pPr indent="-304800" lvl="0" marL="457200" rtl="0" algn="l">
              <a:lnSpc>
                <a:spcPct val="95000"/>
              </a:lnSpc>
              <a:spcBef>
                <a:spcPts val="0"/>
              </a:spcBef>
              <a:spcAft>
                <a:spcPts val="0"/>
              </a:spcAft>
              <a:buClr>
                <a:schemeClr val="dk1"/>
              </a:buClr>
              <a:buSzPts val="1200"/>
              <a:buChar char="●"/>
            </a:pPr>
            <a:r>
              <a:rPr b="1" lang="en-US" sz="1200">
                <a:solidFill>
                  <a:schemeClr val="dk1"/>
                </a:solidFill>
              </a:rPr>
              <a:t>OrderLine</a:t>
            </a:r>
            <a:r>
              <a:rPr lang="en-US" sz="1200">
                <a:solidFill>
                  <a:schemeClr val="dk1"/>
                </a:solidFill>
              </a:rPr>
              <a:t> = item + quantity</a:t>
            </a:r>
            <a:endParaRPr sz="1200">
              <a:solidFill>
                <a:schemeClr val="dk1"/>
              </a:solidFill>
            </a:endParaRPr>
          </a:p>
          <a:p>
            <a:pPr indent="-304800" lvl="0" marL="457200" rtl="0" algn="l">
              <a:lnSpc>
                <a:spcPct val="95000"/>
              </a:lnSpc>
              <a:spcBef>
                <a:spcPts val="0"/>
              </a:spcBef>
              <a:spcAft>
                <a:spcPts val="0"/>
              </a:spcAft>
              <a:buClr>
                <a:schemeClr val="dk1"/>
              </a:buClr>
              <a:buSzPts val="1200"/>
              <a:buChar char="●"/>
            </a:pPr>
            <a:r>
              <a:rPr lang="en-US" sz="1200">
                <a:solidFill>
                  <a:schemeClr val="dk1"/>
                </a:solidFill>
              </a:rPr>
              <a:t>Supports multi-item orders and future product expansion</a:t>
            </a:r>
            <a:endParaRPr sz="1200">
              <a:solidFill>
                <a:schemeClr val="dk1"/>
              </a:solidFill>
            </a:endParaRPr>
          </a:p>
          <a:p>
            <a:pPr indent="0" lvl="0" marL="0" rtl="0" algn="l">
              <a:lnSpc>
                <a:spcPct val="95000"/>
              </a:lnSpc>
              <a:spcBef>
                <a:spcPts val="1200"/>
              </a:spcBef>
              <a:spcAft>
                <a:spcPts val="0"/>
              </a:spcAft>
              <a:buClr>
                <a:schemeClr val="dk1"/>
              </a:buClr>
              <a:buSzPts val="275"/>
              <a:buFont typeface="Arial"/>
              <a:buNone/>
            </a:pPr>
            <a:r>
              <a:t/>
            </a:r>
            <a:endParaRPr b="1" sz="1200">
              <a:solidFill>
                <a:schemeClr val="dk1"/>
              </a:solidFill>
            </a:endParaRPr>
          </a:p>
          <a:p>
            <a:pPr indent="0" lvl="0" marL="0" rtl="0" algn="l">
              <a:lnSpc>
                <a:spcPct val="95000"/>
              </a:lnSpc>
              <a:spcBef>
                <a:spcPts val="1200"/>
              </a:spcBef>
              <a:spcAft>
                <a:spcPts val="1200"/>
              </a:spcAft>
              <a:buClr>
                <a:schemeClr val="dk1"/>
              </a:buClr>
              <a:buSzPts val="275"/>
              <a:buFont typeface="Arial"/>
              <a:buNone/>
            </a:pPr>
            <a:r>
              <a:rPr b="1" lang="en-US" sz="1200">
                <a:solidFill>
                  <a:schemeClr val="dk1"/>
                </a:solidFill>
              </a:rPr>
              <a:t>Technical Example:</a:t>
            </a:r>
            <a:r>
              <a:rPr lang="en-US" sz="1200">
                <a:solidFill>
                  <a:schemeClr val="dk1"/>
                </a:solidFill>
              </a:rPr>
              <a:t> Process Next Order -&gt; Boolean (order queued condition)-&gt; if else (stop or continue) -&gt; Loop (based on quantity). Strings for items (reference text)</a:t>
            </a:r>
            <a:endParaRPr sz="1200">
              <a:solidFill>
                <a:schemeClr val="dk1"/>
              </a:solidFill>
            </a:endParaRPr>
          </a:p>
        </p:txBody>
      </p:sp>
      <p:sp>
        <p:nvSpPr>
          <p:cNvPr id="168" name="Google Shape;168;g3b8f340af85_0_29"/>
          <p:cNvSpPr/>
          <p:nvPr/>
        </p:nvSpPr>
        <p:spPr>
          <a:xfrm rot="2448361">
            <a:off x="4032831" y="4164492"/>
            <a:ext cx="1957918" cy="624699"/>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b86deca15b_1_0"/>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400"/>
              </a:spcBef>
              <a:spcAft>
                <a:spcPts val="1100"/>
              </a:spcAft>
              <a:buClr>
                <a:schemeClr val="dk1"/>
              </a:buClr>
              <a:buSzPts val="1500"/>
              <a:buFont typeface="Arial"/>
              <a:buNone/>
            </a:pPr>
            <a:r>
              <a:rPr b="1" lang="en-US" sz="2200">
                <a:latin typeface="Arial"/>
                <a:ea typeface="Arial"/>
                <a:cs typeface="Arial"/>
                <a:sym typeface="Arial"/>
              </a:rPr>
              <a:t>Database Design </a:t>
            </a:r>
            <a:r>
              <a:rPr b="1" lang="en-US" sz="2200">
                <a:latin typeface="Arial"/>
                <a:ea typeface="Arial"/>
                <a:cs typeface="Arial"/>
                <a:sym typeface="Arial"/>
              </a:rPr>
              <a:t>(MARIUS)</a:t>
            </a:r>
            <a:endParaRPr sz="2200">
              <a:latin typeface="Arial"/>
              <a:ea typeface="Arial"/>
              <a:cs typeface="Arial"/>
              <a:sym typeface="Arial"/>
            </a:endParaRPr>
          </a:p>
        </p:txBody>
      </p:sp>
      <p:sp>
        <p:nvSpPr>
          <p:cNvPr id="174" name="Google Shape;174;g3b86deca15b_1_0"/>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lnSpc>
                <a:spcPct val="107916"/>
              </a:lnSpc>
              <a:spcBef>
                <a:spcPts val="300"/>
              </a:spcBef>
              <a:spcAft>
                <a:spcPts val="0"/>
              </a:spcAft>
              <a:buNone/>
            </a:pPr>
            <a:r>
              <a:rPr b="1" lang="en-US" sz="2000">
                <a:latin typeface="Times New Roman"/>
                <a:ea typeface="Times New Roman"/>
                <a:cs typeface="Times New Roman"/>
                <a:sym typeface="Times New Roman"/>
              </a:rPr>
              <a:t>Database Technology and Access</a:t>
            </a:r>
            <a:endParaRPr b="1" sz="2000">
              <a:latin typeface="Times New Roman"/>
              <a:ea typeface="Times New Roman"/>
              <a:cs typeface="Times New Roman"/>
              <a:sym typeface="Times New Roman"/>
            </a:endParaRPr>
          </a:p>
          <a:p>
            <a:pPr indent="-317500" lvl="0" marL="457200" rtl="0" algn="l">
              <a:lnSpc>
                <a:spcPct val="107916"/>
              </a:lnSpc>
              <a:spcBef>
                <a:spcPts val="800"/>
              </a:spcBef>
              <a:spcAft>
                <a:spcPts val="0"/>
              </a:spcAft>
              <a:buSzPts val="1400"/>
              <a:buFont typeface="Times New Roman"/>
              <a:buChar char="-"/>
            </a:pPr>
            <a:r>
              <a:rPr lang="en-US" sz="1400">
                <a:latin typeface="Times New Roman"/>
                <a:ea typeface="Times New Roman"/>
                <a:cs typeface="Times New Roman"/>
                <a:sym typeface="Times New Roman"/>
              </a:rPr>
              <a:t>Ensures consistency between GUI, Application logic</a:t>
            </a:r>
            <a:endParaRPr sz="1400">
              <a:latin typeface="Times New Roman"/>
              <a:ea typeface="Times New Roman"/>
              <a:cs typeface="Times New Roman"/>
              <a:sym typeface="Times New Roman"/>
            </a:endParaRPr>
          </a:p>
          <a:p>
            <a:pPr indent="0" lvl="0" marL="457200" rtl="0" algn="l">
              <a:lnSpc>
                <a:spcPct val="107916"/>
              </a:lnSpc>
              <a:spcBef>
                <a:spcPts val="800"/>
              </a:spcBef>
              <a:spcAft>
                <a:spcPts val="0"/>
              </a:spcAft>
              <a:buNone/>
            </a:pPr>
            <a:r>
              <a:rPr lang="en-US" sz="1400">
                <a:latin typeface="Times New Roman"/>
                <a:ea typeface="Times New Roman"/>
                <a:cs typeface="Times New Roman"/>
                <a:sym typeface="Times New Roman"/>
              </a:rPr>
              <a:t>and physical robot execution.</a:t>
            </a:r>
            <a:endParaRPr sz="1400">
              <a:latin typeface="Times New Roman"/>
              <a:ea typeface="Times New Roman"/>
              <a:cs typeface="Times New Roman"/>
              <a:sym typeface="Times New Roman"/>
            </a:endParaRPr>
          </a:p>
          <a:p>
            <a:pPr indent="-317500" lvl="0" marL="457200" rtl="0" algn="l">
              <a:lnSpc>
                <a:spcPct val="107916"/>
              </a:lnSpc>
              <a:spcBef>
                <a:spcPts val="800"/>
              </a:spcBef>
              <a:spcAft>
                <a:spcPts val="0"/>
              </a:spcAft>
              <a:buSzPts val="1400"/>
              <a:buFont typeface="Times New Roman"/>
              <a:buChar char="-"/>
            </a:pPr>
            <a:r>
              <a:rPr lang="en-US" sz="1400">
                <a:latin typeface="Times New Roman"/>
                <a:ea typeface="Times New Roman"/>
                <a:cs typeface="Times New Roman"/>
                <a:sym typeface="Times New Roman"/>
              </a:rPr>
              <a:t>SQLite</a:t>
            </a:r>
            <a:endParaRPr sz="1400">
              <a:latin typeface="Times New Roman"/>
              <a:ea typeface="Times New Roman"/>
              <a:cs typeface="Times New Roman"/>
              <a:sym typeface="Times New Roman"/>
            </a:endParaRPr>
          </a:p>
          <a:p>
            <a:pPr indent="-336550" lvl="0" marL="457200" marR="381000" rtl="0" algn="l">
              <a:lnSpc>
                <a:spcPct val="115000"/>
              </a:lnSpc>
              <a:spcBef>
                <a:spcPts val="0"/>
              </a:spcBef>
              <a:spcAft>
                <a:spcPts val="0"/>
              </a:spcAft>
              <a:buSzPts val="1700"/>
              <a:buFont typeface="Times New Roman"/>
              <a:buChar char="-"/>
            </a:pPr>
            <a:r>
              <a:rPr lang="en-US" sz="1400">
                <a:latin typeface="Times New Roman"/>
                <a:ea typeface="Times New Roman"/>
                <a:cs typeface="Times New Roman"/>
                <a:sym typeface="Times New Roman"/>
              </a:rPr>
              <a:t>Entity Framework Core to persist production state </a:t>
            </a:r>
            <a:endParaRPr sz="1700">
              <a:latin typeface="Times New Roman"/>
              <a:ea typeface="Times New Roman"/>
              <a:cs typeface="Times New Roman"/>
              <a:sym typeface="Times New Roman"/>
            </a:endParaRPr>
          </a:p>
          <a:p>
            <a:pPr indent="-285750" lvl="0" marL="457200" marR="381000" rtl="0" algn="l">
              <a:lnSpc>
                <a:spcPct val="115000"/>
              </a:lnSpc>
              <a:spcBef>
                <a:spcPts val="0"/>
              </a:spcBef>
              <a:spcAft>
                <a:spcPts val="0"/>
              </a:spcAft>
              <a:buSzPts val="900"/>
              <a:buFont typeface="Times New Roman"/>
              <a:buChar char="-"/>
            </a:pPr>
            <a:r>
              <a:rPr lang="en-US" sz="1400">
                <a:latin typeface="Times New Roman"/>
                <a:ea typeface="Times New Roman"/>
                <a:cs typeface="Times New Roman"/>
                <a:sym typeface="Times New Roman"/>
              </a:rPr>
              <a:t>Seeding &amp; Reset</a:t>
            </a:r>
            <a:endParaRPr sz="900">
              <a:latin typeface="Times New Roman"/>
              <a:ea typeface="Times New Roman"/>
              <a:cs typeface="Times New Roman"/>
              <a:sym typeface="Times New Roman"/>
            </a:endParaRPr>
          </a:p>
          <a:p>
            <a:pPr indent="0" lvl="0" marL="0" rtl="0" algn="l">
              <a:lnSpc>
                <a:spcPct val="107916"/>
              </a:lnSpc>
              <a:spcBef>
                <a:spcPts val="1200"/>
              </a:spcBef>
              <a:spcAft>
                <a:spcPts val="0"/>
              </a:spcAft>
              <a:buNone/>
            </a:pPr>
            <a:r>
              <a:t/>
            </a:r>
            <a:endParaRPr b="1" sz="1200">
              <a:latin typeface="Times New Roman"/>
              <a:ea typeface="Times New Roman"/>
              <a:cs typeface="Times New Roman"/>
              <a:sym typeface="Times New Roman"/>
            </a:endParaRPr>
          </a:p>
          <a:p>
            <a:pPr indent="0" lvl="0" marL="0" rtl="0" algn="l">
              <a:lnSpc>
                <a:spcPct val="107916"/>
              </a:lnSpc>
              <a:spcBef>
                <a:spcPts val="800"/>
              </a:spcBef>
              <a:spcAft>
                <a:spcPts val="0"/>
              </a:spcAft>
              <a:buNone/>
            </a:pPr>
            <a:r>
              <a:t/>
            </a:r>
            <a:endParaRPr b="1" sz="1200">
              <a:latin typeface="Times New Roman"/>
              <a:ea typeface="Times New Roman"/>
              <a:cs typeface="Times New Roman"/>
              <a:sym typeface="Times New Roman"/>
            </a:endParaRPr>
          </a:p>
          <a:p>
            <a:pPr indent="0" lvl="0" marL="0" rtl="0" algn="l">
              <a:lnSpc>
                <a:spcPct val="107916"/>
              </a:lnSpc>
              <a:spcBef>
                <a:spcPts val="800"/>
              </a:spcBef>
              <a:spcAft>
                <a:spcPts val="800"/>
              </a:spcAft>
              <a:buClr>
                <a:schemeClr val="dk1"/>
              </a:buClr>
              <a:buSzPts val="1100"/>
              <a:buFont typeface="Arial"/>
              <a:buNone/>
            </a:pPr>
            <a:r>
              <a:t/>
            </a:r>
            <a:endParaRPr b="1" sz="1200">
              <a:latin typeface="Times New Roman"/>
              <a:ea typeface="Times New Roman"/>
              <a:cs typeface="Times New Roman"/>
              <a:sym typeface="Times New Roman"/>
            </a:endParaRPr>
          </a:p>
        </p:txBody>
      </p:sp>
      <p:pic>
        <p:nvPicPr>
          <p:cNvPr descr="RG2 Gripper" id="175" name="Google Shape;175;g3b86deca15b_1_0"/>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176" name="Google Shape;176;g3b86deca15b_1_0"/>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77" name="Google Shape;177;g3b86deca15b_1_0"/>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178" name="Google Shape;178;g3b86deca15b_1_0"/>
          <p:cNvSpPr txBox="1"/>
          <p:nvPr/>
        </p:nvSpPr>
        <p:spPr>
          <a:xfrm>
            <a:off x="5147000" y="1536625"/>
            <a:ext cx="6787800" cy="3309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en-US" sz="2200">
                <a:solidFill>
                  <a:schemeClr val="dk1"/>
                </a:solidFill>
                <a:latin typeface="Times New Roman"/>
                <a:ea typeface="Times New Roman"/>
                <a:cs typeface="Times New Roman"/>
                <a:sym typeface="Times New Roman"/>
              </a:rPr>
              <a:t>Data Flow &amp; Consistency</a:t>
            </a:r>
            <a:endParaRPr b="1" sz="2200">
              <a:solidFill>
                <a:schemeClr val="dk1"/>
              </a:solidFill>
              <a:latin typeface="Times New Roman"/>
              <a:ea typeface="Times New Roman"/>
              <a:cs typeface="Times New Roman"/>
              <a:sym typeface="Times New Roman"/>
            </a:endParaRPr>
          </a:p>
          <a:p>
            <a:pPr indent="-330200" lvl="0" marL="457200" marR="381000" rtl="0" algn="l">
              <a:lnSpc>
                <a:spcPct val="115000"/>
              </a:lnSpc>
              <a:spcBef>
                <a:spcPts val="1200"/>
              </a:spcBef>
              <a:spcAft>
                <a:spcPts val="0"/>
              </a:spcAft>
              <a:buClr>
                <a:schemeClr val="dk1"/>
              </a:buClr>
              <a:buSzPts val="1600"/>
              <a:buFont typeface="Times New Roman"/>
              <a:buAutoNum type="arabicPeriod"/>
            </a:pPr>
            <a:r>
              <a:rPr lang="en-US" sz="1600">
                <a:solidFill>
                  <a:schemeClr val="dk1"/>
                </a:solidFill>
                <a:latin typeface="Times New Roman"/>
                <a:ea typeface="Times New Roman"/>
                <a:cs typeface="Times New Roman"/>
                <a:sym typeface="Times New Roman"/>
              </a:rPr>
              <a:t>All production-related actions follow a database-driven workflow.</a:t>
            </a:r>
            <a:endParaRPr sz="1600">
              <a:solidFill>
                <a:schemeClr val="dk1"/>
              </a:solidFill>
              <a:latin typeface="Times New Roman"/>
              <a:ea typeface="Times New Roman"/>
              <a:cs typeface="Times New Roman"/>
              <a:sym typeface="Times New Roman"/>
            </a:endParaRPr>
          </a:p>
          <a:p>
            <a:pPr indent="-330200" lvl="0" marL="457200" marR="381000" rtl="0" algn="l">
              <a:lnSpc>
                <a:spcPct val="115000"/>
              </a:lnSpc>
              <a:spcBef>
                <a:spcPts val="0"/>
              </a:spcBef>
              <a:spcAft>
                <a:spcPts val="0"/>
              </a:spcAft>
              <a:buClr>
                <a:schemeClr val="dk1"/>
              </a:buClr>
              <a:buSzPts val="1600"/>
              <a:buFont typeface="Times New Roman"/>
              <a:buAutoNum type="arabicPeriod"/>
            </a:pPr>
            <a:r>
              <a:rPr lang="en-US" sz="1600">
                <a:solidFill>
                  <a:schemeClr val="dk1"/>
                </a:solidFill>
                <a:latin typeface="Times New Roman"/>
                <a:ea typeface="Times New Roman"/>
                <a:cs typeface="Times New Roman"/>
                <a:sym typeface="Times New Roman"/>
              </a:rPr>
              <a:t>Orders are created through the GUI and stored in the database.</a:t>
            </a:r>
            <a:endParaRPr sz="1600">
              <a:solidFill>
                <a:schemeClr val="dk1"/>
              </a:solidFill>
              <a:latin typeface="Times New Roman"/>
              <a:ea typeface="Times New Roman"/>
              <a:cs typeface="Times New Roman"/>
              <a:sym typeface="Times New Roman"/>
            </a:endParaRPr>
          </a:p>
          <a:p>
            <a:pPr indent="-330200" lvl="0" marL="457200" marR="381000" rtl="0" algn="l">
              <a:lnSpc>
                <a:spcPct val="115000"/>
              </a:lnSpc>
              <a:spcBef>
                <a:spcPts val="0"/>
              </a:spcBef>
              <a:spcAft>
                <a:spcPts val="0"/>
              </a:spcAft>
              <a:buClr>
                <a:schemeClr val="dk1"/>
              </a:buClr>
              <a:buSzPts val="1600"/>
              <a:buFont typeface="Times New Roman"/>
              <a:buAutoNum type="arabicPeriod"/>
            </a:pPr>
            <a:r>
              <a:rPr lang="en-US" sz="1600">
                <a:solidFill>
                  <a:schemeClr val="dk1"/>
                </a:solidFill>
                <a:latin typeface="Times New Roman"/>
                <a:ea typeface="Times New Roman"/>
                <a:cs typeface="Times New Roman"/>
                <a:sym typeface="Times New Roman"/>
              </a:rPr>
              <a:t>The application retrieves the next queued order.</a:t>
            </a:r>
            <a:endParaRPr sz="1600">
              <a:solidFill>
                <a:schemeClr val="dk1"/>
              </a:solidFill>
              <a:latin typeface="Times New Roman"/>
              <a:ea typeface="Times New Roman"/>
              <a:cs typeface="Times New Roman"/>
              <a:sym typeface="Times New Roman"/>
            </a:endParaRPr>
          </a:p>
          <a:p>
            <a:pPr indent="-330200" lvl="0" marL="457200" rtl="0" algn="l">
              <a:lnSpc>
                <a:spcPct val="115000"/>
              </a:lnSpc>
              <a:spcBef>
                <a:spcPts val="0"/>
              </a:spcBef>
              <a:spcAft>
                <a:spcPts val="0"/>
              </a:spcAft>
              <a:buClr>
                <a:schemeClr val="dk1"/>
              </a:buClr>
              <a:buSzPts val="1600"/>
              <a:buFont typeface="Times New Roman"/>
              <a:buAutoNum type="arabicPeriod"/>
            </a:pPr>
            <a:r>
              <a:rPr lang="en-US" sz="1600">
                <a:solidFill>
                  <a:schemeClr val="dk1"/>
                </a:solidFill>
                <a:latin typeface="Times New Roman"/>
                <a:ea typeface="Times New Roman"/>
                <a:cs typeface="Times New Roman"/>
                <a:sym typeface="Times New Roman"/>
              </a:rPr>
              <a:t>Order data is translated into a robot motion sequence.</a:t>
            </a:r>
            <a:endParaRPr sz="1600">
              <a:solidFill>
                <a:schemeClr val="dk1"/>
              </a:solidFill>
              <a:latin typeface="Times New Roman"/>
              <a:ea typeface="Times New Roman"/>
              <a:cs typeface="Times New Roman"/>
              <a:sym typeface="Times New Roman"/>
            </a:endParaRPr>
          </a:p>
          <a:p>
            <a:pPr indent="-330200" lvl="0" marL="457200" rtl="0" algn="l">
              <a:lnSpc>
                <a:spcPct val="115000"/>
              </a:lnSpc>
              <a:spcBef>
                <a:spcPts val="0"/>
              </a:spcBef>
              <a:spcAft>
                <a:spcPts val="0"/>
              </a:spcAft>
              <a:buClr>
                <a:schemeClr val="dk1"/>
              </a:buClr>
              <a:buSzPts val="1600"/>
              <a:buFont typeface="Times New Roman"/>
              <a:buAutoNum type="arabicPeriod"/>
            </a:pPr>
            <a:r>
              <a:rPr lang="en-US" sz="1600">
                <a:solidFill>
                  <a:schemeClr val="dk1"/>
                </a:solidFill>
                <a:latin typeface="Times New Roman"/>
                <a:ea typeface="Times New Roman"/>
                <a:cs typeface="Times New Roman"/>
                <a:sym typeface="Times New Roman"/>
              </a:rPr>
              <a:t>After successful execution, the database is updated: the order is moved to processed and inventory quantities are reduced.”</a:t>
            </a:r>
            <a:endParaRPr sz="3300">
              <a:solidFill>
                <a:schemeClr val="dk1"/>
              </a:solidFill>
              <a:latin typeface="Times New Roman"/>
              <a:ea typeface="Times New Roman"/>
              <a:cs typeface="Times New Roman"/>
              <a:sym typeface="Times New Roman"/>
            </a:endParaRPr>
          </a:p>
        </p:txBody>
      </p:sp>
      <p:pic>
        <p:nvPicPr>
          <p:cNvPr id="179" name="Google Shape;179;g3b86deca15b_1_0" title="Skærmbillede 2026-01-19 kl. 11.16.28.png"/>
          <p:cNvPicPr preferRelativeResize="0"/>
          <p:nvPr/>
        </p:nvPicPr>
        <p:blipFill>
          <a:blip r:embed="rId5">
            <a:alphaModFix/>
          </a:blip>
          <a:stretch>
            <a:fillRect/>
          </a:stretch>
        </p:blipFill>
        <p:spPr>
          <a:xfrm>
            <a:off x="2836300" y="3924375"/>
            <a:ext cx="7123450" cy="28599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pic>
        <p:nvPicPr>
          <p:cNvPr descr="RG2 Gripper" id="184" name="Google Shape;184;g3b86deca15b_0_3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id="185" name="Google Shape;185;g3b86deca15b_0_32" title="Skærmbillede 2026-01-19 kl. 10.26.42.png"/>
          <p:cNvPicPr preferRelativeResize="0"/>
          <p:nvPr/>
        </p:nvPicPr>
        <p:blipFill>
          <a:blip r:embed="rId4">
            <a:alphaModFix/>
          </a:blip>
          <a:stretch>
            <a:fillRect/>
          </a:stretch>
        </p:blipFill>
        <p:spPr>
          <a:xfrm>
            <a:off x="1915905" y="3636225"/>
            <a:ext cx="9859620" cy="2859900"/>
          </a:xfrm>
          <a:prstGeom prst="rect">
            <a:avLst/>
          </a:prstGeom>
          <a:noFill/>
          <a:ln>
            <a:noFill/>
          </a:ln>
        </p:spPr>
      </p:pic>
      <p:sp>
        <p:nvSpPr>
          <p:cNvPr id="186" name="Google Shape;186;g3b86deca15b_0_3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Security</a:t>
            </a:r>
            <a:endParaRPr sz="2200">
              <a:latin typeface="Arial"/>
              <a:ea typeface="Arial"/>
              <a:cs typeface="Arial"/>
              <a:sym typeface="Arial"/>
            </a:endParaRPr>
          </a:p>
        </p:txBody>
      </p:sp>
      <p:sp>
        <p:nvSpPr>
          <p:cNvPr id="187" name="Google Shape;187;g3b86deca15b_0_32"/>
          <p:cNvSpPr txBox="1"/>
          <p:nvPr>
            <p:ph idx="1" type="body"/>
          </p:nvPr>
        </p:nvSpPr>
        <p:spPr>
          <a:xfrm>
            <a:off x="415600" y="1536625"/>
            <a:ext cx="4522800" cy="25113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1600"/>
              <a:t>Login feature</a:t>
            </a:r>
            <a:endParaRPr b="1" sz="1600"/>
          </a:p>
          <a:p>
            <a:pPr indent="-330200" lvl="0" marL="457200" rtl="0" algn="l">
              <a:spcBef>
                <a:spcPts val="1000"/>
              </a:spcBef>
              <a:spcAft>
                <a:spcPts val="0"/>
              </a:spcAft>
              <a:buSzPts val="1600"/>
              <a:buChar char="●"/>
            </a:pPr>
            <a:r>
              <a:rPr lang="en-US" sz="1600"/>
              <a:t>Database controlled </a:t>
            </a:r>
            <a:br>
              <a:rPr lang="en-US" sz="1600"/>
            </a:br>
            <a:endParaRPr sz="1600"/>
          </a:p>
          <a:p>
            <a:pPr indent="-330200" lvl="0" marL="457200" rtl="0" algn="l">
              <a:spcBef>
                <a:spcPts val="0"/>
              </a:spcBef>
              <a:spcAft>
                <a:spcPts val="0"/>
              </a:spcAft>
              <a:buSzPts val="1600"/>
              <a:buChar char="●"/>
            </a:pPr>
            <a:r>
              <a:rPr lang="en-US" sz="1600"/>
              <a:t>Has multiple verification levels</a:t>
            </a:r>
            <a:endParaRPr sz="1600"/>
          </a:p>
          <a:p>
            <a:pPr indent="-330200" lvl="1" marL="914400" rtl="0" algn="l">
              <a:spcBef>
                <a:spcPts val="0"/>
              </a:spcBef>
              <a:spcAft>
                <a:spcPts val="0"/>
              </a:spcAft>
              <a:buSzPts val="1600"/>
              <a:buChar char="○"/>
            </a:pPr>
            <a:r>
              <a:rPr lang="en-US" sz="1600"/>
              <a:t>Does Username exist</a:t>
            </a:r>
            <a:endParaRPr sz="1600"/>
          </a:p>
          <a:p>
            <a:pPr indent="-330200" lvl="1" marL="914400" rtl="0" algn="l">
              <a:spcBef>
                <a:spcPts val="0"/>
              </a:spcBef>
              <a:spcAft>
                <a:spcPts val="0"/>
              </a:spcAft>
              <a:buSzPts val="1600"/>
              <a:buChar char="○"/>
            </a:pPr>
            <a:r>
              <a:rPr lang="en-US" sz="1600"/>
              <a:t>Is password correct</a:t>
            </a:r>
            <a:br>
              <a:rPr lang="en-US" sz="1600"/>
            </a:br>
            <a:endParaRPr sz="1600"/>
          </a:p>
          <a:p>
            <a:pPr indent="-330200" lvl="0" marL="457200" rtl="0" algn="l">
              <a:spcBef>
                <a:spcPts val="0"/>
              </a:spcBef>
              <a:spcAft>
                <a:spcPts val="0"/>
              </a:spcAft>
              <a:buSzPts val="1600"/>
              <a:buChar char="●"/>
            </a:pPr>
            <a:r>
              <a:rPr lang="en-US" sz="1600"/>
              <a:t>Creates a session for the logged in user</a:t>
            </a:r>
            <a:endParaRPr sz="1600"/>
          </a:p>
        </p:txBody>
      </p:sp>
      <p:sp>
        <p:nvSpPr>
          <p:cNvPr id="188" name="Google Shape;188;g3b86deca15b_0_3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89" name="Google Shape;189;g3b86deca15b_0_32"/>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190" name="Google Shape;190;g3b86deca15b_0_32"/>
          <p:cNvSpPr txBox="1"/>
          <p:nvPr>
            <p:ph idx="1" type="body"/>
          </p:nvPr>
        </p:nvSpPr>
        <p:spPr>
          <a:xfrm>
            <a:off x="5396350" y="1536625"/>
            <a:ext cx="4522800" cy="45552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1600"/>
              <a:t>Password Salting</a:t>
            </a:r>
            <a:endParaRPr b="1" sz="1600"/>
          </a:p>
          <a:p>
            <a:pPr indent="-330200" lvl="0" marL="457200" rtl="0" algn="l">
              <a:spcBef>
                <a:spcPts val="1000"/>
              </a:spcBef>
              <a:spcAft>
                <a:spcPts val="0"/>
              </a:spcAft>
              <a:buSzPts val="1600"/>
              <a:buChar char="●"/>
            </a:pPr>
            <a:r>
              <a:rPr lang="en-US" sz="1600"/>
              <a:t>The system uses salting in database</a:t>
            </a:r>
            <a:br>
              <a:rPr lang="en-US" sz="1600"/>
            </a:br>
            <a:endParaRPr sz="1600"/>
          </a:p>
          <a:p>
            <a:pPr indent="-330200" lvl="0" marL="457200" rtl="0" algn="l">
              <a:spcBef>
                <a:spcPts val="0"/>
              </a:spcBef>
              <a:spcAft>
                <a:spcPts val="0"/>
              </a:spcAft>
              <a:buSzPts val="1600"/>
              <a:buChar char="●"/>
            </a:pPr>
            <a:r>
              <a:rPr lang="en-US" sz="1600"/>
              <a:t>Protects against precomputed attacks like Rainbow table</a:t>
            </a:r>
            <a:endParaRPr sz="16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id="195" name="Google Shape;195;g3b8f1cd1e88_0_2" title="Skærmbillede 2026-01-19 kl. 10.33.02.png"/>
          <p:cNvPicPr preferRelativeResize="0"/>
          <p:nvPr/>
        </p:nvPicPr>
        <p:blipFill>
          <a:blip r:embed="rId3">
            <a:alphaModFix/>
          </a:blip>
          <a:stretch>
            <a:fillRect/>
          </a:stretch>
        </p:blipFill>
        <p:spPr>
          <a:xfrm>
            <a:off x="1314195" y="2981050"/>
            <a:ext cx="9724856" cy="3404649"/>
          </a:xfrm>
          <a:prstGeom prst="rect">
            <a:avLst/>
          </a:prstGeom>
          <a:noFill/>
          <a:ln>
            <a:noFill/>
          </a:ln>
        </p:spPr>
      </p:pic>
      <p:sp>
        <p:nvSpPr>
          <p:cNvPr id="196" name="Google Shape;196;g3b8f1cd1e88_0_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Security</a:t>
            </a:r>
            <a:endParaRPr sz="2200">
              <a:latin typeface="Arial"/>
              <a:ea typeface="Arial"/>
              <a:cs typeface="Arial"/>
              <a:sym typeface="Arial"/>
            </a:endParaRPr>
          </a:p>
        </p:txBody>
      </p:sp>
      <p:sp>
        <p:nvSpPr>
          <p:cNvPr id="197" name="Google Shape;197;g3b8f1cd1e88_0_2"/>
          <p:cNvSpPr txBox="1"/>
          <p:nvPr>
            <p:ph idx="1" type="body"/>
          </p:nvPr>
        </p:nvSpPr>
        <p:spPr>
          <a:xfrm>
            <a:off x="415600" y="1536625"/>
            <a:ext cx="4077600" cy="1612500"/>
          </a:xfrm>
          <a:prstGeom prst="rect">
            <a:avLst/>
          </a:prstGeom>
        </p:spPr>
        <p:txBody>
          <a:bodyPr anchorCtr="0" anchor="t" bIns="45700" lIns="91425" spcFirstLastPara="1" rIns="91425" wrap="square" tIns="45700">
            <a:normAutofit lnSpcReduction="20000"/>
          </a:bodyPr>
          <a:lstStyle/>
          <a:p>
            <a:pPr indent="0" lvl="0" marL="0" rtl="0" algn="l">
              <a:spcBef>
                <a:spcPts val="1000"/>
              </a:spcBef>
              <a:spcAft>
                <a:spcPts val="0"/>
              </a:spcAft>
              <a:buNone/>
            </a:pPr>
            <a:r>
              <a:t/>
            </a:r>
            <a:endParaRPr sz="1600"/>
          </a:p>
          <a:p>
            <a:pPr indent="0" lvl="0" marL="0" rtl="0" algn="l">
              <a:spcBef>
                <a:spcPts val="1000"/>
              </a:spcBef>
              <a:spcAft>
                <a:spcPts val="0"/>
              </a:spcAft>
              <a:buNone/>
            </a:pPr>
            <a:r>
              <a:rPr b="1" lang="en-US" sz="1600"/>
              <a:t>Create User (Admin)</a:t>
            </a:r>
            <a:endParaRPr b="1" sz="1600"/>
          </a:p>
          <a:p>
            <a:pPr indent="-330200" lvl="0" marL="457200" rtl="0" algn="l">
              <a:spcBef>
                <a:spcPts val="1000"/>
              </a:spcBef>
              <a:spcAft>
                <a:spcPts val="0"/>
              </a:spcAft>
              <a:buSzPts val="1600"/>
              <a:buChar char="●"/>
            </a:pPr>
            <a:r>
              <a:rPr lang="en-US" sz="1600"/>
              <a:t>Create new user is limited to admins</a:t>
            </a:r>
            <a:br>
              <a:rPr lang="en-US" sz="1600"/>
            </a:br>
            <a:endParaRPr sz="1600"/>
          </a:p>
          <a:p>
            <a:pPr indent="-330200" lvl="0" marL="457200" rtl="0" algn="l">
              <a:spcBef>
                <a:spcPts val="0"/>
              </a:spcBef>
              <a:spcAft>
                <a:spcPts val="0"/>
              </a:spcAft>
              <a:buSzPts val="1600"/>
              <a:buChar char="●"/>
            </a:pPr>
            <a:r>
              <a:rPr lang="en-US" sz="1600"/>
              <a:t>Account requirements</a:t>
            </a:r>
            <a:endParaRPr sz="1600"/>
          </a:p>
          <a:p>
            <a:pPr indent="-330200" lvl="1" marL="914400" rtl="0" algn="l">
              <a:spcBef>
                <a:spcPts val="0"/>
              </a:spcBef>
              <a:spcAft>
                <a:spcPts val="0"/>
              </a:spcAft>
              <a:buSzPts val="1600"/>
              <a:buChar char="○"/>
            </a:pPr>
            <a:r>
              <a:rPr lang="en-US" sz="1600"/>
              <a:t>Username length =&gt; 3?</a:t>
            </a:r>
            <a:endParaRPr sz="1600"/>
          </a:p>
          <a:p>
            <a:pPr indent="-330200" lvl="1" marL="914400" rtl="0" algn="l">
              <a:spcBef>
                <a:spcPts val="0"/>
              </a:spcBef>
              <a:spcAft>
                <a:spcPts val="0"/>
              </a:spcAft>
              <a:buSzPts val="1600"/>
              <a:buChar char="○"/>
            </a:pPr>
            <a:r>
              <a:rPr lang="en-US" sz="1600"/>
              <a:t>Password </a:t>
            </a:r>
            <a:r>
              <a:rPr lang="en-US" sz="1600"/>
              <a:t>length</a:t>
            </a:r>
            <a:r>
              <a:rPr lang="en-US" sz="1600"/>
              <a:t> =&gt; 4?</a:t>
            </a:r>
            <a:endParaRPr sz="1600"/>
          </a:p>
        </p:txBody>
      </p:sp>
      <p:pic>
        <p:nvPicPr>
          <p:cNvPr descr="RG2 Gripper" id="198" name="Google Shape;198;g3b8f1cd1e88_0_2"/>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199" name="Google Shape;199;g3b8f1cd1e88_0_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00" name="Google Shape;200;g3b8f1cd1e88_0_2"/>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01" name="Google Shape;201;g3b8f1cd1e88_0_2"/>
          <p:cNvSpPr txBox="1"/>
          <p:nvPr/>
        </p:nvSpPr>
        <p:spPr>
          <a:xfrm>
            <a:off x="5383468" y="2048086"/>
            <a:ext cx="4882500" cy="879900"/>
          </a:xfrm>
          <a:prstGeom prst="rect">
            <a:avLst/>
          </a:prstGeom>
          <a:noFill/>
          <a:ln>
            <a:noFill/>
          </a:ln>
        </p:spPr>
        <p:txBody>
          <a:bodyPr anchorCtr="0" anchor="t" bIns="91425" lIns="91425" spcFirstLastPara="1" rIns="91425" wrap="square" tIns="91425">
            <a:noAutofit/>
          </a:bodyPr>
          <a:lstStyle/>
          <a:p>
            <a:pPr indent="-330200" lvl="0" marL="457200" rtl="0" algn="l">
              <a:lnSpc>
                <a:spcPct val="90000"/>
              </a:lnSpc>
              <a:spcBef>
                <a:spcPts val="1000"/>
              </a:spcBef>
              <a:spcAft>
                <a:spcPts val="0"/>
              </a:spcAft>
              <a:buClr>
                <a:schemeClr val="dk1"/>
              </a:buClr>
              <a:buSzPts val="1600"/>
              <a:buChar char="●"/>
            </a:pPr>
            <a:r>
              <a:rPr lang="en-US" sz="1600">
                <a:solidFill>
                  <a:schemeClr val="dk1"/>
                </a:solidFill>
              </a:rPr>
              <a:t>Option to make admin</a:t>
            </a:r>
            <a:br>
              <a:rPr lang="en-US" sz="1600">
                <a:solidFill>
                  <a:schemeClr val="dk1"/>
                </a:solidFill>
              </a:rPr>
            </a:br>
            <a:endParaRPr sz="1600">
              <a:solidFill>
                <a:schemeClr val="dk1"/>
              </a:solidFill>
            </a:endParaRPr>
          </a:p>
          <a:p>
            <a:pPr indent="-330200" lvl="0" marL="457200" rtl="0" algn="l">
              <a:lnSpc>
                <a:spcPct val="90000"/>
              </a:lnSpc>
              <a:spcBef>
                <a:spcPts val="0"/>
              </a:spcBef>
              <a:spcAft>
                <a:spcPts val="0"/>
              </a:spcAft>
              <a:buClr>
                <a:schemeClr val="dk1"/>
              </a:buClr>
              <a:buSzPts val="1600"/>
              <a:buChar char="●"/>
            </a:pPr>
            <a:r>
              <a:rPr lang="en-US" sz="1600">
                <a:solidFill>
                  <a:schemeClr val="dk1"/>
                </a:solidFill>
              </a:rPr>
              <a:t>Creates account in database</a:t>
            </a:r>
            <a:endParaRPr sz="1600">
              <a:solidFill>
                <a:schemeClr val="dk1"/>
              </a:solidFill>
            </a:endParaRPr>
          </a:p>
        </p:txBody>
      </p:sp>
      <p:pic>
        <p:nvPicPr>
          <p:cNvPr id="202" name="Google Shape;202;g3b8f1cd1e88_0_2" title="Skærmbillede 2026-01-20 kl. 09.56.23.png"/>
          <p:cNvPicPr preferRelativeResize="0"/>
          <p:nvPr/>
        </p:nvPicPr>
        <p:blipFill rotWithShape="1">
          <a:blip r:embed="rId6">
            <a:alphaModFix/>
          </a:blip>
          <a:srcRect b="0" l="9387" r="0" t="0"/>
          <a:stretch/>
        </p:blipFill>
        <p:spPr>
          <a:xfrm>
            <a:off x="4423625" y="875125"/>
            <a:ext cx="1599725" cy="617300"/>
          </a:xfrm>
          <a:prstGeom prst="rect">
            <a:avLst/>
          </a:prstGeom>
          <a:noFill/>
          <a:ln cap="flat" cmpd="sng" w="9525">
            <a:solidFill>
              <a:schemeClr val="dk1"/>
            </a:solidFill>
            <a:prstDash val="solid"/>
            <a:round/>
            <a:headEnd len="sm" w="sm" type="none"/>
            <a:tailEnd len="sm" w="sm" type="none"/>
          </a:ln>
        </p:spPr>
      </p:pic>
      <p:pic>
        <p:nvPicPr>
          <p:cNvPr id="203" name="Google Shape;203;g3b8f1cd1e88_0_2" title="Skærmbillede 2026-01-20 kl. 09.56.50.png"/>
          <p:cNvPicPr preferRelativeResize="0"/>
          <p:nvPr/>
        </p:nvPicPr>
        <p:blipFill rotWithShape="1">
          <a:blip r:embed="rId7">
            <a:alphaModFix/>
          </a:blip>
          <a:srcRect b="0" l="3827" r="0" t="0"/>
          <a:stretch/>
        </p:blipFill>
        <p:spPr>
          <a:xfrm>
            <a:off x="6504487" y="875125"/>
            <a:ext cx="3355512" cy="617300"/>
          </a:xfrm>
          <a:prstGeom prst="rect">
            <a:avLst/>
          </a:prstGeom>
          <a:noFill/>
          <a:ln cap="flat" cmpd="sng" w="9525">
            <a:solidFill>
              <a:schemeClr val="dk1"/>
            </a:solidFill>
            <a:prstDash val="solid"/>
            <a:round/>
            <a:headEnd len="sm" w="sm" type="none"/>
            <a:tailEnd len="sm" w="sm" type="none"/>
          </a:ln>
        </p:spPr>
      </p:pic>
      <p:sp>
        <p:nvSpPr>
          <p:cNvPr id="204" name="Google Shape;204;g3b8f1cd1e88_0_2"/>
          <p:cNvSpPr txBox="1"/>
          <p:nvPr/>
        </p:nvSpPr>
        <p:spPr>
          <a:xfrm>
            <a:off x="6968350" y="429925"/>
            <a:ext cx="2294400" cy="445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dk1"/>
                </a:solidFill>
              </a:rPr>
              <a:t>Admin User</a:t>
            </a:r>
            <a:endParaRPr b="1" sz="1600">
              <a:solidFill>
                <a:schemeClr val="dk1"/>
              </a:solidFill>
            </a:endParaRPr>
          </a:p>
        </p:txBody>
      </p:sp>
      <p:sp>
        <p:nvSpPr>
          <p:cNvPr id="205" name="Google Shape;205;g3b8f1cd1e88_0_2"/>
          <p:cNvSpPr txBox="1"/>
          <p:nvPr/>
        </p:nvSpPr>
        <p:spPr>
          <a:xfrm>
            <a:off x="4076288" y="429925"/>
            <a:ext cx="2294400" cy="445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dk1"/>
                </a:solidFill>
              </a:rPr>
              <a:t>User</a:t>
            </a:r>
            <a:endParaRPr b="1" sz="16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id="210" name="Google Shape;210;g3b86deca15b_0_17" title="Skærmbillede 2026-01-19 kl. 11.01.59.png"/>
          <p:cNvPicPr preferRelativeResize="0"/>
          <p:nvPr/>
        </p:nvPicPr>
        <p:blipFill>
          <a:blip r:embed="rId3">
            <a:alphaModFix/>
          </a:blip>
          <a:stretch>
            <a:fillRect/>
          </a:stretch>
        </p:blipFill>
        <p:spPr>
          <a:xfrm>
            <a:off x="2415375" y="3282925"/>
            <a:ext cx="9179074" cy="3239025"/>
          </a:xfrm>
          <a:prstGeom prst="rect">
            <a:avLst/>
          </a:prstGeom>
          <a:noFill/>
          <a:ln>
            <a:noFill/>
          </a:ln>
        </p:spPr>
      </p:pic>
      <p:sp>
        <p:nvSpPr>
          <p:cNvPr id="211" name="Google Shape;211;g3b86deca15b_0_1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GUI and ViewModel (MVVM) </a:t>
            </a:r>
            <a:endParaRPr sz="2200">
              <a:latin typeface="Arial"/>
              <a:ea typeface="Arial"/>
              <a:cs typeface="Arial"/>
              <a:sym typeface="Arial"/>
            </a:endParaRPr>
          </a:p>
        </p:txBody>
      </p:sp>
      <p:sp>
        <p:nvSpPr>
          <p:cNvPr id="212" name="Google Shape;212;g3b86deca15b_0_17"/>
          <p:cNvSpPr txBox="1"/>
          <p:nvPr>
            <p:ph idx="1" type="body"/>
          </p:nvPr>
        </p:nvSpPr>
        <p:spPr>
          <a:xfrm>
            <a:off x="415600" y="1244500"/>
            <a:ext cx="9252300" cy="4140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i="1" lang="en-US" sz="1600"/>
              <a:t>Interactive GUI able to both create orders and process orders.</a:t>
            </a:r>
            <a:endParaRPr sz="1600"/>
          </a:p>
        </p:txBody>
      </p:sp>
      <p:pic>
        <p:nvPicPr>
          <p:cNvPr descr="RG2 Gripper" id="213" name="Google Shape;213;g3b86deca15b_0_17"/>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214" name="Google Shape;214;g3b86deca15b_0_1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15" name="Google Shape;215;g3b86deca15b_0_17"/>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16" name="Google Shape;216;g3b86deca15b_0_17"/>
          <p:cNvSpPr txBox="1"/>
          <p:nvPr>
            <p:ph idx="1" type="body"/>
          </p:nvPr>
        </p:nvSpPr>
        <p:spPr>
          <a:xfrm>
            <a:off x="415600" y="1814025"/>
            <a:ext cx="5385300" cy="25113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1600"/>
              <a:t>Create order</a:t>
            </a:r>
            <a:endParaRPr b="1" sz="1600"/>
          </a:p>
          <a:p>
            <a:pPr indent="-330200" lvl="0" marL="457200" rtl="0" algn="l">
              <a:spcBef>
                <a:spcPts val="1000"/>
              </a:spcBef>
              <a:spcAft>
                <a:spcPts val="0"/>
              </a:spcAft>
              <a:buSzPts val="1600"/>
              <a:buChar char="●"/>
            </a:pPr>
            <a:r>
              <a:rPr lang="en-US" sz="1600"/>
              <a:t>User able to select both item and quantity</a:t>
            </a:r>
            <a:br>
              <a:rPr lang="en-US" sz="1600"/>
            </a:br>
            <a:endParaRPr sz="1600"/>
          </a:p>
          <a:p>
            <a:pPr indent="-330200" lvl="0" marL="457200" rtl="0" algn="l">
              <a:spcBef>
                <a:spcPts val="0"/>
              </a:spcBef>
              <a:spcAft>
                <a:spcPts val="0"/>
              </a:spcAft>
              <a:buSzPts val="1600"/>
              <a:buChar char="●"/>
            </a:pPr>
            <a:r>
              <a:rPr lang="en-US" sz="1600"/>
              <a:t>The order is first validated by the system</a:t>
            </a:r>
            <a:br>
              <a:rPr lang="en-US" sz="1600"/>
            </a:br>
            <a:endParaRPr sz="1600"/>
          </a:p>
          <a:p>
            <a:pPr indent="-330200" lvl="0" marL="457200" rtl="0" algn="l">
              <a:spcBef>
                <a:spcPts val="0"/>
              </a:spcBef>
              <a:spcAft>
                <a:spcPts val="0"/>
              </a:spcAft>
              <a:buSzPts val="1600"/>
              <a:buChar char="●"/>
            </a:pPr>
            <a:r>
              <a:rPr lang="en-US" sz="1600"/>
              <a:t>Database stores as a queued order</a:t>
            </a:r>
            <a:endParaRPr sz="1600"/>
          </a:p>
          <a:p>
            <a:pPr indent="-330200" lvl="1" marL="914400" rtl="0" algn="l">
              <a:spcBef>
                <a:spcPts val="0"/>
              </a:spcBef>
              <a:spcAft>
                <a:spcPts val="0"/>
              </a:spcAft>
              <a:buSzPts val="1600"/>
              <a:buChar char="○"/>
            </a:pPr>
            <a:r>
              <a:rPr lang="en-US" sz="1600"/>
              <a:t>Database becomes single source of truth</a:t>
            </a:r>
            <a:endParaRPr sz="16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pic>
        <p:nvPicPr>
          <p:cNvPr id="221" name="Google Shape;221;g3b8f1cd1e88_0_19" title="Skærmbillede 2026-01-19 kl. 11.04.07.png"/>
          <p:cNvPicPr preferRelativeResize="0"/>
          <p:nvPr/>
        </p:nvPicPr>
        <p:blipFill>
          <a:blip r:embed="rId3">
            <a:alphaModFix/>
          </a:blip>
          <a:stretch>
            <a:fillRect/>
          </a:stretch>
        </p:blipFill>
        <p:spPr>
          <a:xfrm>
            <a:off x="2136857" y="3930000"/>
            <a:ext cx="9499343" cy="2511300"/>
          </a:xfrm>
          <a:prstGeom prst="rect">
            <a:avLst/>
          </a:prstGeom>
          <a:noFill/>
          <a:ln>
            <a:noFill/>
          </a:ln>
        </p:spPr>
      </p:pic>
      <p:sp>
        <p:nvSpPr>
          <p:cNvPr id="222" name="Google Shape;222;g3b8f1cd1e88_0_19"/>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GUI and ViewModel (MVVM) </a:t>
            </a:r>
            <a:endParaRPr sz="2200">
              <a:latin typeface="Arial"/>
              <a:ea typeface="Arial"/>
              <a:cs typeface="Arial"/>
              <a:sym typeface="Arial"/>
            </a:endParaRPr>
          </a:p>
        </p:txBody>
      </p:sp>
      <p:sp>
        <p:nvSpPr>
          <p:cNvPr id="223" name="Google Shape;223;g3b8f1cd1e88_0_19"/>
          <p:cNvSpPr txBox="1"/>
          <p:nvPr>
            <p:ph idx="1" type="body"/>
          </p:nvPr>
        </p:nvSpPr>
        <p:spPr>
          <a:xfrm>
            <a:off x="415600" y="1244500"/>
            <a:ext cx="9252300" cy="4140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i="1" lang="en-US" sz="1600"/>
              <a:t>Interactive GUI able to both create orders and process orders.</a:t>
            </a:r>
            <a:endParaRPr sz="1600"/>
          </a:p>
        </p:txBody>
      </p:sp>
      <p:pic>
        <p:nvPicPr>
          <p:cNvPr descr="RG2 Gripper" id="224" name="Google Shape;224;g3b8f1cd1e88_0_19"/>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225" name="Google Shape;225;g3b8f1cd1e88_0_19"/>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26" name="Google Shape;226;g3b8f1cd1e88_0_19"/>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27" name="Google Shape;227;g3b8f1cd1e88_0_19"/>
          <p:cNvSpPr txBox="1"/>
          <p:nvPr>
            <p:ph idx="1" type="body"/>
          </p:nvPr>
        </p:nvSpPr>
        <p:spPr>
          <a:xfrm>
            <a:off x="415600" y="1814025"/>
            <a:ext cx="5218200" cy="2780700"/>
          </a:xfrm>
          <a:prstGeom prst="rect">
            <a:avLst/>
          </a:prstGeom>
        </p:spPr>
        <p:txBody>
          <a:bodyPr anchorCtr="0" anchor="t" bIns="45700" lIns="91425" spcFirstLastPara="1" rIns="91425" wrap="square" tIns="45700">
            <a:normAutofit lnSpcReduction="10000"/>
          </a:bodyPr>
          <a:lstStyle/>
          <a:p>
            <a:pPr indent="0" lvl="0" marL="0" rtl="0" algn="l">
              <a:spcBef>
                <a:spcPts val="1000"/>
              </a:spcBef>
              <a:spcAft>
                <a:spcPts val="0"/>
              </a:spcAft>
              <a:buNone/>
            </a:pPr>
            <a:r>
              <a:rPr b="1" lang="en-US" sz="1600"/>
              <a:t>Process order</a:t>
            </a:r>
            <a:endParaRPr b="1" sz="1600"/>
          </a:p>
          <a:p>
            <a:pPr indent="-330200" lvl="0" marL="457200" rtl="0" algn="l">
              <a:spcBef>
                <a:spcPts val="1000"/>
              </a:spcBef>
              <a:spcAft>
                <a:spcPts val="0"/>
              </a:spcAft>
              <a:buSzPts val="1600"/>
              <a:buChar char="●"/>
            </a:pPr>
            <a:r>
              <a:rPr i="1" lang="en-US" sz="1600"/>
              <a:t>Process Next Order</a:t>
            </a:r>
            <a:r>
              <a:rPr lang="en-US" sz="1600"/>
              <a:t> retrieves oldest queued order in database</a:t>
            </a:r>
            <a:br>
              <a:rPr lang="en-US" sz="1600"/>
            </a:br>
            <a:endParaRPr sz="1600"/>
          </a:p>
          <a:p>
            <a:pPr indent="-330200" lvl="0" marL="457200" rtl="0" algn="l">
              <a:spcBef>
                <a:spcPts val="0"/>
              </a:spcBef>
              <a:spcAft>
                <a:spcPts val="0"/>
              </a:spcAft>
              <a:buSzPts val="1600"/>
              <a:buChar char="●"/>
            </a:pPr>
            <a:r>
              <a:rPr lang="en-US" sz="1600"/>
              <a:t>The order is translated to the robot</a:t>
            </a:r>
            <a:br>
              <a:rPr lang="en-US" sz="1600"/>
            </a:br>
            <a:endParaRPr sz="1600"/>
          </a:p>
          <a:p>
            <a:pPr indent="-330200" lvl="0" marL="457200" rtl="0" algn="l">
              <a:spcBef>
                <a:spcPts val="0"/>
              </a:spcBef>
              <a:spcAft>
                <a:spcPts val="0"/>
              </a:spcAft>
              <a:buSzPts val="1600"/>
              <a:buChar char="●"/>
            </a:pPr>
            <a:r>
              <a:rPr lang="en-US" sz="1600"/>
              <a:t>When robot is done - Database is updated</a:t>
            </a:r>
            <a:endParaRPr sz="1600"/>
          </a:p>
          <a:p>
            <a:pPr indent="-330200" lvl="1" marL="914400" rtl="0" algn="l">
              <a:spcBef>
                <a:spcPts val="0"/>
              </a:spcBef>
              <a:spcAft>
                <a:spcPts val="0"/>
              </a:spcAft>
              <a:buSzPts val="1600"/>
              <a:buChar char="○"/>
            </a:pPr>
            <a:r>
              <a:rPr lang="en-US" sz="1600"/>
              <a:t>Inventory updated</a:t>
            </a:r>
            <a:endParaRPr sz="1600"/>
          </a:p>
          <a:p>
            <a:pPr indent="-330200" lvl="1" marL="914400" rtl="0" algn="l">
              <a:spcBef>
                <a:spcPts val="0"/>
              </a:spcBef>
              <a:spcAft>
                <a:spcPts val="0"/>
              </a:spcAft>
              <a:buSzPts val="1600"/>
              <a:buChar char="○"/>
            </a:pPr>
            <a:r>
              <a:rPr lang="en-US" sz="1600"/>
              <a:t>Queued → Processed</a:t>
            </a:r>
            <a:br>
              <a:rPr lang="en-US" sz="1600"/>
            </a:br>
            <a:endParaRPr sz="1600"/>
          </a:p>
          <a:p>
            <a:pPr indent="-330200" lvl="0" marL="457200" rtl="0" algn="l">
              <a:spcBef>
                <a:spcPts val="0"/>
              </a:spcBef>
              <a:spcAft>
                <a:spcPts val="0"/>
              </a:spcAft>
              <a:buSzPts val="1600"/>
              <a:buChar char="●"/>
            </a:pPr>
            <a:r>
              <a:rPr lang="en-US" sz="1600"/>
              <a:t>Continuous status messages are displayed to inform the operator</a:t>
            </a:r>
            <a:endParaRPr sz="16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pic>
        <p:nvPicPr>
          <p:cNvPr descr="RG2 Gripper" id="232" name="Google Shape;232;g3b86deca15b_0_2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id="233" name="Google Shape;233;g3b86deca15b_0_22"/>
          <p:cNvPicPr preferRelativeResize="0"/>
          <p:nvPr/>
        </p:nvPicPr>
        <p:blipFill>
          <a:blip r:embed="rId4">
            <a:alphaModFix/>
          </a:blip>
          <a:stretch>
            <a:fillRect/>
          </a:stretch>
        </p:blipFill>
        <p:spPr>
          <a:xfrm>
            <a:off x="6041925" y="2165325"/>
            <a:ext cx="6051861" cy="4745700"/>
          </a:xfrm>
          <a:prstGeom prst="rect">
            <a:avLst/>
          </a:prstGeom>
          <a:noFill/>
          <a:ln>
            <a:noFill/>
          </a:ln>
        </p:spPr>
      </p:pic>
      <p:sp>
        <p:nvSpPr>
          <p:cNvPr id="234" name="Google Shape;234;g3b86deca15b_0_2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Robot Integration</a:t>
            </a:r>
            <a:endParaRPr sz="2200">
              <a:latin typeface="Arial"/>
              <a:ea typeface="Arial"/>
              <a:cs typeface="Arial"/>
              <a:sym typeface="Arial"/>
            </a:endParaRPr>
          </a:p>
        </p:txBody>
      </p:sp>
      <p:sp>
        <p:nvSpPr>
          <p:cNvPr id="235" name="Google Shape;235;g3b86deca15b_0_22"/>
          <p:cNvSpPr txBox="1"/>
          <p:nvPr>
            <p:ph idx="1" type="body"/>
          </p:nvPr>
        </p:nvSpPr>
        <p:spPr>
          <a:xfrm>
            <a:off x="922000" y="1356875"/>
            <a:ext cx="7023600" cy="4555200"/>
          </a:xfrm>
          <a:prstGeom prst="rect">
            <a:avLst/>
          </a:prstGeom>
        </p:spPr>
        <p:txBody>
          <a:bodyPr anchorCtr="0" anchor="t" bIns="45700" lIns="91425" spcFirstLastPara="1" rIns="91425" wrap="square" tIns="45700">
            <a:normAutofit/>
          </a:bodyPr>
          <a:lstStyle/>
          <a:p>
            <a:pPr indent="-355600" lvl="0" marL="457200" rtl="0" algn="l">
              <a:spcBef>
                <a:spcPts val="1000"/>
              </a:spcBef>
              <a:spcAft>
                <a:spcPts val="0"/>
              </a:spcAft>
              <a:buSzPts val="2000"/>
              <a:buChar char="•"/>
            </a:pPr>
            <a:r>
              <a:rPr lang="en-US" sz="2000"/>
              <a:t>Database driven</a:t>
            </a:r>
            <a:endParaRPr sz="2000"/>
          </a:p>
          <a:p>
            <a:pPr indent="-355600" lvl="0" marL="457200" rtl="0" algn="l">
              <a:spcBef>
                <a:spcPts val="0"/>
              </a:spcBef>
              <a:spcAft>
                <a:spcPts val="0"/>
              </a:spcAft>
              <a:buSzPts val="2000"/>
              <a:buChar char="•"/>
            </a:pPr>
            <a:r>
              <a:rPr lang="en-US" sz="2000"/>
              <a:t>Orders created in GUI</a:t>
            </a:r>
            <a:endParaRPr sz="2000"/>
          </a:p>
          <a:p>
            <a:pPr indent="-355600" lvl="0" marL="457200" rtl="0" algn="l">
              <a:spcBef>
                <a:spcPts val="0"/>
              </a:spcBef>
              <a:spcAft>
                <a:spcPts val="0"/>
              </a:spcAft>
              <a:buSzPts val="2000"/>
              <a:buChar char="•"/>
            </a:pPr>
            <a:r>
              <a:rPr lang="en-US" sz="2000"/>
              <a:t>Stored in Database</a:t>
            </a:r>
            <a:endParaRPr sz="2000"/>
          </a:p>
          <a:p>
            <a:pPr indent="-355600" lvl="0" marL="457200" rtl="0" algn="l">
              <a:spcBef>
                <a:spcPts val="0"/>
              </a:spcBef>
              <a:spcAft>
                <a:spcPts val="0"/>
              </a:spcAft>
              <a:buSzPts val="2000"/>
              <a:buChar char="•"/>
            </a:pPr>
            <a:r>
              <a:rPr lang="en-US" sz="2000"/>
              <a:t>Communicating via URScript - TCP/IP</a:t>
            </a:r>
            <a:endParaRPr sz="2000"/>
          </a:p>
          <a:p>
            <a:pPr indent="-355600" lvl="0" marL="457200" rtl="0" algn="l">
              <a:spcBef>
                <a:spcPts val="0"/>
              </a:spcBef>
              <a:spcAft>
                <a:spcPts val="0"/>
              </a:spcAft>
              <a:buSzPts val="2000"/>
              <a:buChar char="•"/>
            </a:pPr>
            <a:r>
              <a:rPr lang="en-US" sz="2000"/>
              <a:t>Connects to URSim &amp; real robot</a:t>
            </a:r>
            <a:br>
              <a:rPr lang="en-US" sz="2000"/>
            </a:br>
            <a:endParaRPr sz="2000"/>
          </a:p>
          <a:p>
            <a:pPr indent="-355600" lvl="0" marL="457200" rtl="0" algn="l">
              <a:spcBef>
                <a:spcPts val="0"/>
              </a:spcBef>
              <a:spcAft>
                <a:spcPts val="0"/>
              </a:spcAft>
              <a:buSzPts val="2000"/>
              <a:buChar char="•"/>
            </a:pPr>
            <a:r>
              <a:rPr lang="en-US" sz="2000"/>
              <a:t>Start position (</a:t>
            </a:r>
            <a:r>
              <a:rPr lang="en-US" sz="2000" u="sng"/>
              <a:t>T</a:t>
            </a:r>
            <a:r>
              <a:rPr lang="en-US" sz="2000"/>
              <a:t>ool </a:t>
            </a:r>
            <a:r>
              <a:rPr lang="en-US" sz="2000" u="sng"/>
              <a:t>C</a:t>
            </a:r>
            <a:r>
              <a:rPr lang="en-US" sz="2000"/>
              <a:t>enter </a:t>
            </a:r>
            <a:r>
              <a:rPr lang="en-US" sz="2000" u="sng"/>
              <a:t>P</a:t>
            </a:r>
            <a:r>
              <a:rPr lang="en-US" sz="2000"/>
              <a:t>oint)</a:t>
            </a:r>
            <a:endParaRPr sz="2000"/>
          </a:p>
          <a:p>
            <a:pPr indent="-355600" lvl="1" marL="914400" rtl="0" algn="l">
              <a:spcBef>
                <a:spcPts val="0"/>
              </a:spcBef>
              <a:spcAft>
                <a:spcPts val="0"/>
              </a:spcAft>
              <a:buSzPts val="2000"/>
              <a:buChar char="•"/>
            </a:pPr>
            <a:r>
              <a:rPr lang="en-US" sz="2000"/>
              <a:t>X =		0.125</a:t>
            </a:r>
            <a:endParaRPr sz="2000"/>
          </a:p>
          <a:p>
            <a:pPr indent="-355600" lvl="1" marL="914400" rtl="0" algn="l">
              <a:spcBef>
                <a:spcPts val="0"/>
              </a:spcBef>
              <a:spcAft>
                <a:spcPts val="0"/>
              </a:spcAft>
              <a:buSzPts val="2000"/>
              <a:buChar char="•"/>
            </a:pPr>
            <a:r>
              <a:rPr lang="en-US" sz="2000"/>
              <a:t>Y =      -	0.300</a:t>
            </a:r>
            <a:endParaRPr sz="2000"/>
          </a:p>
          <a:p>
            <a:pPr indent="-355600" lvl="1" marL="914400" rtl="0" algn="l">
              <a:spcBef>
                <a:spcPts val="0"/>
              </a:spcBef>
              <a:spcAft>
                <a:spcPts val="0"/>
              </a:spcAft>
              <a:buSzPts val="2000"/>
              <a:buChar char="•"/>
            </a:pPr>
            <a:r>
              <a:rPr lang="en-US" sz="2000"/>
              <a:t>Z =		0.100</a:t>
            </a:r>
            <a:endParaRPr sz="2000"/>
          </a:p>
          <a:p>
            <a:pPr indent="-355600" lvl="0" marL="457200" rtl="0" algn="l">
              <a:spcBef>
                <a:spcPts val="0"/>
              </a:spcBef>
              <a:spcAft>
                <a:spcPts val="0"/>
              </a:spcAft>
              <a:buSzPts val="2000"/>
              <a:buChar char="•"/>
            </a:pPr>
            <a:r>
              <a:rPr lang="en-US" sz="2000"/>
              <a:t>Start rotation</a:t>
            </a:r>
            <a:r>
              <a:rPr lang="en-US" sz="2000"/>
              <a:t> (</a:t>
            </a:r>
            <a:r>
              <a:rPr lang="en-US" sz="2000" u="sng"/>
              <a:t>T</a:t>
            </a:r>
            <a:r>
              <a:rPr lang="en-US" sz="2000"/>
              <a:t>ool </a:t>
            </a:r>
            <a:r>
              <a:rPr lang="en-US" sz="2000" u="sng"/>
              <a:t>C</a:t>
            </a:r>
            <a:r>
              <a:rPr lang="en-US" sz="2000"/>
              <a:t>enter </a:t>
            </a:r>
            <a:r>
              <a:rPr lang="en-US" sz="2000" u="sng"/>
              <a:t>P</a:t>
            </a:r>
            <a:r>
              <a:rPr lang="en-US" sz="2000"/>
              <a:t>oint)</a:t>
            </a:r>
            <a:endParaRPr sz="2000"/>
          </a:p>
          <a:p>
            <a:pPr indent="-355600" lvl="1" marL="914400" rtl="0" algn="l">
              <a:spcBef>
                <a:spcPts val="0"/>
              </a:spcBef>
              <a:spcAft>
                <a:spcPts val="0"/>
              </a:spcAft>
              <a:buSzPts val="2000"/>
              <a:buChar char="•"/>
            </a:pPr>
            <a:r>
              <a:rPr lang="en-US" sz="2000"/>
              <a:t>R</a:t>
            </a:r>
            <a:r>
              <a:rPr lang="en-US" sz="2000"/>
              <a:t>X =	3.14 (180° nedad)</a:t>
            </a:r>
            <a:endParaRPr sz="2000"/>
          </a:p>
          <a:p>
            <a:pPr indent="-355600" lvl="1" marL="914400" rtl="0" algn="l">
              <a:spcBef>
                <a:spcPts val="0"/>
              </a:spcBef>
              <a:spcAft>
                <a:spcPts val="0"/>
              </a:spcAft>
              <a:buSzPts val="2000"/>
              <a:buChar char="•"/>
            </a:pPr>
            <a:r>
              <a:rPr lang="en-US" sz="2000"/>
              <a:t>RY =   	0.00</a:t>
            </a:r>
            <a:endParaRPr sz="2000"/>
          </a:p>
          <a:p>
            <a:pPr indent="-355600" lvl="1" marL="914400" rtl="0" algn="l">
              <a:spcBef>
                <a:spcPts val="0"/>
              </a:spcBef>
              <a:spcAft>
                <a:spcPts val="0"/>
              </a:spcAft>
              <a:buSzPts val="2000"/>
              <a:buChar char="•"/>
            </a:pPr>
            <a:r>
              <a:rPr lang="en-US" sz="2000"/>
              <a:t>RZ =	0.00</a:t>
            </a:r>
            <a:endParaRPr sz="2000"/>
          </a:p>
        </p:txBody>
      </p:sp>
      <p:sp>
        <p:nvSpPr>
          <p:cNvPr id="236" name="Google Shape;236;g3b86deca15b_0_2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37" name="Google Shape;237;g3b86deca15b_0_22"/>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38" name="Google Shape;238;g3b86deca15b_0_22"/>
          <p:cNvSpPr/>
          <p:nvPr/>
        </p:nvSpPr>
        <p:spPr>
          <a:xfrm>
            <a:off x="7363695" y="1564888"/>
            <a:ext cx="831600" cy="385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000"/>
              <a:t>Database</a:t>
            </a:r>
            <a:endParaRPr sz="1000"/>
          </a:p>
        </p:txBody>
      </p:sp>
      <p:sp>
        <p:nvSpPr>
          <p:cNvPr id="239" name="Google Shape;239;g3b86deca15b_0_22"/>
          <p:cNvSpPr/>
          <p:nvPr/>
        </p:nvSpPr>
        <p:spPr>
          <a:xfrm>
            <a:off x="6134309" y="593375"/>
            <a:ext cx="831600" cy="385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000"/>
              <a:t>GUI</a:t>
            </a:r>
            <a:endParaRPr b="1" sz="1000"/>
          </a:p>
        </p:txBody>
      </p:sp>
      <p:sp>
        <p:nvSpPr>
          <p:cNvPr id="240" name="Google Shape;240;g3b86deca15b_0_22"/>
          <p:cNvSpPr/>
          <p:nvPr/>
        </p:nvSpPr>
        <p:spPr>
          <a:xfrm>
            <a:off x="8828504" y="1564900"/>
            <a:ext cx="831600" cy="385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000"/>
              <a:t>URSim</a:t>
            </a:r>
            <a:endParaRPr b="1" sz="1000"/>
          </a:p>
        </p:txBody>
      </p:sp>
      <p:cxnSp>
        <p:nvCxnSpPr>
          <p:cNvPr id="241" name="Google Shape;241;g3b86deca15b_0_22"/>
          <p:cNvCxnSpPr>
            <a:stCxn id="239" idx="2"/>
            <a:endCxn id="238" idx="1"/>
          </p:cNvCxnSpPr>
          <p:nvPr/>
        </p:nvCxnSpPr>
        <p:spPr>
          <a:xfrm>
            <a:off x="6550109" y="979175"/>
            <a:ext cx="813600" cy="778500"/>
          </a:xfrm>
          <a:prstGeom prst="straightConnector1">
            <a:avLst/>
          </a:prstGeom>
          <a:noFill/>
          <a:ln cap="flat" cmpd="sng" w="19050">
            <a:solidFill>
              <a:schemeClr val="dk2"/>
            </a:solidFill>
            <a:prstDash val="solid"/>
            <a:round/>
            <a:headEnd len="med" w="med" type="none"/>
            <a:tailEnd len="med" w="med" type="triangle"/>
          </a:ln>
        </p:spPr>
      </p:cxnSp>
      <p:cxnSp>
        <p:nvCxnSpPr>
          <p:cNvPr id="242" name="Google Shape;242;g3b86deca15b_0_22"/>
          <p:cNvCxnSpPr>
            <a:endCxn id="240" idx="1"/>
          </p:cNvCxnSpPr>
          <p:nvPr/>
        </p:nvCxnSpPr>
        <p:spPr>
          <a:xfrm flipH="1" rot="10800000">
            <a:off x="8198204" y="1757800"/>
            <a:ext cx="630300" cy="6600"/>
          </a:xfrm>
          <a:prstGeom prst="straightConnector1">
            <a:avLst/>
          </a:prstGeom>
          <a:noFill/>
          <a:ln cap="flat" cmpd="sng" w="19050">
            <a:solidFill>
              <a:schemeClr val="dk2"/>
            </a:solidFill>
            <a:prstDash val="solid"/>
            <a:round/>
            <a:headEnd len="med" w="med" type="none"/>
            <a:tailEnd len="med" w="med" type="triangle"/>
          </a:ln>
        </p:spPr>
      </p:cxnSp>
      <p:cxnSp>
        <p:nvCxnSpPr>
          <p:cNvPr id="243" name="Google Shape;243;g3b86deca15b_0_22"/>
          <p:cNvCxnSpPr>
            <a:stCxn id="238" idx="2"/>
          </p:cNvCxnSpPr>
          <p:nvPr/>
        </p:nvCxnSpPr>
        <p:spPr>
          <a:xfrm>
            <a:off x="7779495" y="1950688"/>
            <a:ext cx="442800" cy="1055400"/>
          </a:xfrm>
          <a:prstGeom prst="straightConnector1">
            <a:avLst/>
          </a:prstGeom>
          <a:noFill/>
          <a:ln cap="flat" cmpd="sng" w="19050">
            <a:solidFill>
              <a:schemeClr val="dk2"/>
            </a:solidFill>
            <a:prstDash val="solid"/>
            <a:round/>
            <a:headEnd len="med" w="med" type="none"/>
            <a:tailEnd len="med" w="med" type="triangl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g3b8f340af85_1_10"/>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Robot Integration</a:t>
            </a:r>
            <a:endParaRPr sz="2200">
              <a:latin typeface="Arial"/>
              <a:ea typeface="Arial"/>
              <a:cs typeface="Arial"/>
              <a:sym typeface="Arial"/>
            </a:endParaRPr>
          </a:p>
        </p:txBody>
      </p:sp>
      <p:sp>
        <p:nvSpPr>
          <p:cNvPr id="249" name="Google Shape;249;g3b8f340af85_1_10"/>
          <p:cNvSpPr txBox="1"/>
          <p:nvPr>
            <p:ph idx="1" type="body"/>
          </p:nvPr>
        </p:nvSpPr>
        <p:spPr>
          <a:xfrm>
            <a:off x="922000" y="1356875"/>
            <a:ext cx="7023600" cy="4555200"/>
          </a:xfrm>
          <a:prstGeom prst="rect">
            <a:avLst/>
          </a:prstGeom>
        </p:spPr>
        <p:txBody>
          <a:bodyPr anchorCtr="0" anchor="t" bIns="45700" lIns="91425" spcFirstLastPara="1" rIns="91425" wrap="square" tIns="45700">
            <a:normAutofit/>
          </a:bodyPr>
          <a:lstStyle/>
          <a:p>
            <a:pPr indent="-355600" lvl="0" marL="457200" rtl="0" algn="l">
              <a:spcBef>
                <a:spcPts val="1000"/>
              </a:spcBef>
              <a:spcAft>
                <a:spcPts val="0"/>
              </a:spcAft>
              <a:buSzPts val="2000"/>
              <a:buChar char="•"/>
            </a:pPr>
            <a:r>
              <a:rPr lang="en-US" sz="2000"/>
              <a:t>Robot motion structure</a:t>
            </a:r>
            <a:endParaRPr sz="2000"/>
          </a:p>
          <a:p>
            <a:pPr indent="-355600" lvl="1" marL="914400" rtl="0" algn="l">
              <a:spcBef>
                <a:spcPts val="0"/>
              </a:spcBef>
              <a:spcAft>
                <a:spcPts val="0"/>
              </a:spcAft>
              <a:buSzPts val="2000"/>
              <a:buChar char="•"/>
            </a:pPr>
            <a:r>
              <a:rPr lang="en-US" sz="2000"/>
              <a:t>Determined motion from A→E</a:t>
            </a:r>
            <a:endParaRPr sz="2000"/>
          </a:p>
          <a:p>
            <a:pPr indent="-355600" lvl="2" marL="1371600" rtl="0" algn="l">
              <a:spcBef>
                <a:spcPts val="0"/>
              </a:spcBef>
              <a:spcAft>
                <a:spcPts val="0"/>
              </a:spcAft>
              <a:buSzPts val="2000"/>
              <a:buChar char="•"/>
            </a:pPr>
            <a:r>
              <a:rPr lang="en-US"/>
              <a:t>Using Move L</a:t>
            </a:r>
            <a:endParaRPr sz="2000"/>
          </a:p>
          <a:p>
            <a:pPr indent="-355600" lvl="1" marL="914400" rtl="0" algn="l">
              <a:spcBef>
                <a:spcPts val="0"/>
              </a:spcBef>
              <a:spcAft>
                <a:spcPts val="0"/>
              </a:spcAft>
              <a:buSzPts val="2000"/>
              <a:buChar char="•"/>
            </a:pPr>
            <a:r>
              <a:rPr lang="en-US" sz="2000"/>
              <a:t>Pick &amp; place - Height</a:t>
            </a:r>
            <a:endParaRPr sz="2000"/>
          </a:p>
          <a:p>
            <a:pPr indent="-355600" lvl="2" marL="1371600" rtl="0" algn="l">
              <a:spcBef>
                <a:spcPts val="0"/>
              </a:spcBef>
              <a:spcAft>
                <a:spcPts val="0"/>
              </a:spcAft>
              <a:buSzPts val="2000"/>
              <a:buChar char="•"/>
            </a:pPr>
            <a:r>
              <a:rPr lang="en-US"/>
              <a:t>Gripper - RG2</a:t>
            </a:r>
            <a:endParaRPr/>
          </a:p>
          <a:p>
            <a:pPr indent="-355600" lvl="3" marL="1828800" rtl="0" algn="l">
              <a:spcBef>
                <a:spcPts val="0"/>
              </a:spcBef>
              <a:spcAft>
                <a:spcPts val="0"/>
              </a:spcAft>
              <a:buSzPts val="2000"/>
              <a:buChar char="•"/>
            </a:pPr>
            <a:r>
              <a:rPr lang="en-US" sz="2000"/>
              <a:t>open_mm       	= 60</a:t>
            </a:r>
            <a:endParaRPr sz="2000"/>
          </a:p>
          <a:p>
            <a:pPr indent="-355600" lvl="3" marL="1828800" rtl="0" algn="l">
              <a:spcBef>
                <a:spcPts val="0"/>
              </a:spcBef>
              <a:spcAft>
                <a:spcPts val="0"/>
              </a:spcAft>
              <a:buSzPts val="2000"/>
              <a:buChar char="•"/>
            </a:pPr>
            <a:r>
              <a:rPr lang="en-US" sz="2000"/>
              <a:t>open_pick_mm 	= 85</a:t>
            </a:r>
            <a:endParaRPr sz="2000"/>
          </a:p>
          <a:p>
            <a:pPr indent="-355600" lvl="3" marL="1828800" rtl="0" algn="l">
              <a:spcBef>
                <a:spcPts val="0"/>
              </a:spcBef>
              <a:spcAft>
                <a:spcPts val="0"/>
              </a:spcAft>
              <a:buSzPts val="2000"/>
              <a:buChar char="•"/>
            </a:pPr>
            <a:r>
              <a:rPr lang="en-US" sz="2000"/>
              <a:t>close_mm      	= 31</a:t>
            </a:r>
            <a:endParaRPr sz="2000"/>
          </a:p>
          <a:p>
            <a:pPr indent="-355600" lvl="3" marL="1828800" rtl="0" algn="l">
              <a:spcBef>
                <a:spcPts val="0"/>
              </a:spcBef>
              <a:spcAft>
                <a:spcPts val="0"/>
              </a:spcAft>
              <a:buSzPts val="2000"/>
              <a:buChar char="•"/>
            </a:pPr>
            <a:r>
              <a:rPr lang="en-US" sz="2000"/>
              <a:t>f_open        		= 30</a:t>
            </a:r>
            <a:endParaRPr sz="2000"/>
          </a:p>
          <a:p>
            <a:pPr indent="-355600" lvl="3" marL="1828800" rtl="0" algn="l">
              <a:spcBef>
                <a:spcPts val="0"/>
              </a:spcBef>
              <a:spcAft>
                <a:spcPts val="0"/>
              </a:spcAft>
              <a:buSzPts val="2000"/>
              <a:buChar char="•"/>
            </a:pPr>
            <a:r>
              <a:rPr lang="en-US" sz="2000"/>
              <a:t>f_close       		= 30</a:t>
            </a:r>
            <a:br>
              <a:rPr lang="en-US" sz="2000"/>
            </a:br>
            <a:endParaRPr sz="2000"/>
          </a:p>
          <a:p>
            <a:pPr indent="-355600" lvl="0" marL="457200" rtl="0" algn="l">
              <a:spcBef>
                <a:spcPts val="0"/>
              </a:spcBef>
              <a:spcAft>
                <a:spcPts val="0"/>
              </a:spcAft>
              <a:buSzPts val="2000"/>
              <a:buChar char="•"/>
            </a:pPr>
            <a:r>
              <a:rPr lang="en-US" sz="2000"/>
              <a:t>Predefined predictable sequences</a:t>
            </a:r>
            <a:endParaRPr sz="2000"/>
          </a:p>
        </p:txBody>
      </p:sp>
      <p:pic>
        <p:nvPicPr>
          <p:cNvPr descr="RG2 Gripper" id="250" name="Google Shape;250;g3b8f340af85_1_10"/>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251" name="Google Shape;251;g3b8f340af85_1_10"/>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52" name="Google Shape;252;g3b8f340af85_1_10"/>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pic>
        <p:nvPicPr>
          <p:cNvPr id="253" name="Google Shape;253;g3b8f340af85_1_10"/>
          <p:cNvPicPr preferRelativeResize="0"/>
          <p:nvPr/>
        </p:nvPicPr>
        <p:blipFill>
          <a:blip r:embed="rId5">
            <a:alphaModFix/>
          </a:blip>
          <a:stretch>
            <a:fillRect/>
          </a:stretch>
        </p:blipFill>
        <p:spPr>
          <a:xfrm>
            <a:off x="6325425" y="2109950"/>
            <a:ext cx="4535567" cy="4555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pic>
        <p:nvPicPr>
          <p:cNvPr id="258" name="Google Shape;258;g3b86deca15b_1_16"/>
          <p:cNvPicPr preferRelativeResize="0"/>
          <p:nvPr/>
        </p:nvPicPr>
        <p:blipFill>
          <a:blip r:embed="rId3">
            <a:alphaModFix/>
          </a:blip>
          <a:stretch>
            <a:fillRect/>
          </a:stretch>
        </p:blipFill>
        <p:spPr>
          <a:xfrm>
            <a:off x="1987850" y="3355475"/>
            <a:ext cx="9683350" cy="3400275"/>
          </a:xfrm>
          <a:prstGeom prst="rect">
            <a:avLst/>
          </a:prstGeom>
          <a:noFill/>
          <a:ln>
            <a:noFill/>
          </a:ln>
        </p:spPr>
      </p:pic>
      <p:sp>
        <p:nvSpPr>
          <p:cNvPr id="259" name="Google Shape;259;g3b86deca15b_1_16"/>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Sensor (Safety)</a:t>
            </a:r>
            <a:endParaRPr sz="2200">
              <a:latin typeface="Arial"/>
              <a:ea typeface="Arial"/>
              <a:cs typeface="Arial"/>
              <a:sym typeface="Arial"/>
            </a:endParaRPr>
          </a:p>
        </p:txBody>
      </p:sp>
      <p:sp>
        <p:nvSpPr>
          <p:cNvPr id="260" name="Google Shape;260;g3b86deca15b_1_16"/>
          <p:cNvSpPr txBox="1"/>
          <p:nvPr>
            <p:ph idx="1" type="body"/>
          </p:nvPr>
        </p:nvSpPr>
        <p:spPr>
          <a:xfrm>
            <a:off x="909950" y="1356875"/>
            <a:ext cx="11023500" cy="4896000"/>
          </a:xfrm>
          <a:prstGeom prst="rect">
            <a:avLst/>
          </a:prstGeom>
        </p:spPr>
        <p:txBody>
          <a:bodyPr anchorCtr="0" anchor="t" bIns="45700" lIns="91425" spcFirstLastPara="1" rIns="91425" wrap="square" tIns="45700">
            <a:normAutofit/>
          </a:bodyPr>
          <a:lstStyle/>
          <a:p>
            <a:pPr indent="-355600" lvl="0" marL="457200" rtl="0" algn="l">
              <a:spcBef>
                <a:spcPts val="1000"/>
              </a:spcBef>
              <a:spcAft>
                <a:spcPts val="0"/>
              </a:spcAft>
              <a:buSzPts val="2000"/>
              <a:buChar char="•"/>
            </a:pPr>
            <a:r>
              <a:rPr lang="en-US" sz="2000"/>
              <a:t>Why safety is needed?</a:t>
            </a:r>
            <a:endParaRPr sz="2000"/>
          </a:p>
          <a:p>
            <a:pPr indent="-355600" lvl="1" marL="914400" rtl="0" algn="l">
              <a:spcBef>
                <a:spcPts val="0"/>
              </a:spcBef>
              <a:spcAft>
                <a:spcPts val="0"/>
              </a:spcAft>
              <a:buSzPts val="2000"/>
              <a:buChar char="•"/>
            </a:pPr>
            <a:r>
              <a:rPr lang="en-US" sz="2000"/>
              <a:t>Due to h</a:t>
            </a:r>
            <a:r>
              <a:rPr lang="en-US" sz="2000"/>
              <a:t>uman interaction</a:t>
            </a:r>
            <a:endParaRPr sz="2000"/>
          </a:p>
          <a:p>
            <a:pPr indent="-355600" lvl="1" marL="914400" rtl="0" algn="l">
              <a:spcBef>
                <a:spcPts val="0"/>
              </a:spcBef>
              <a:spcAft>
                <a:spcPts val="0"/>
              </a:spcAft>
              <a:buSzPts val="2000"/>
              <a:buChar char="•"/>
            </a:pPr>
            <a:r>
              <a:rPr lang="en-US" sz="2000"/>
              <a:t>Error minimizing in production loop</a:t>
            </a:r>
            <a:br>
              <a:rPr lang="en-US" sz="2000"/>
            </a:br>
            <a:endParaRPr sz="2000"/>
          </a:p>
          <a:p>
            <a:pPr indent="-355600" lvl="0" marL="457200" rtl="0" algn="l">
              <a:spcBef>
                <a:spcPts val="0"/>
              </a:spcBef>
              <a:spcAft>
                <a:spcPts val="0"/>
              </a:spcAft>
              <a:buSzPts val="2000"/>
              <a:buChar char="•"/>
            </a:pPr>
            <a:r>
              <a:rPr lang="en-US" sz="2000"/>
              <a:t>Sensor role</a:t>
            </a:r>
            <a:endParaRPr sz="2000"/>
          </a:p>
          <a:p>
            <a:pPr indent="-355600" lvl="1" marL="914400" rtl="0" algn="l">
              <a:spcBef>
                <a:spcPts val="0"/>
              </a:spcBef>
              <a:spcAft>
                <a:spcPts val="0"/>
              </a:spcAft>
              <a:buSzPts val="2000"/>
              <a:buChar char="•"/>
            </a:pPr>
            <a:r>
              <a:rPr lang="en-US" sz="2000"/>
              <a:t>Photoelectric</a:t>
            </a:r>
            <a:endParaRPr sz="2000"/>
          </a:p>
          <a:p>
            <a:pPr indent="-355600" lvl="1" marL="914400" rtl="0" algn="l">
              <a:spcBef>
                <a:spcPts val="0"/>
              </a:spcBef>
              <a:spcAft>
                <a:spcPts val="0"/>
              </a:spcAft>
              <a:buSzPts val="2000"/>
              <a:buChar char="•"/>
            </a:pPr>
            <a:r>
              <a:rPr lang="en-US" sz="2000"/>
              <a:t>Detects products</a:t>
            </a:r>
            <a:endParaRPr sz="2000"/>
          </a:p>
          <a:p>
            <a:pPr indent="-355600" lvl="1" marL="914400" rtl="0" algn="l">
              <a:spcBef>
                <a:spcPts val="0"/>
              </a:spcBef>
              <a:spcAft>
                <a:spcPts val="0"/>
              </a:spcAft>
              <a:buSzPts val="2000"/>
              <a:buChar char="•"/>
            </a:pPr>
            <a:r>
              <a:rPr lang="en-US" sz="2000"/>
              <a:t>Signals robot to wait or proceed</a:t>
            </a:r>
            <a:br>
              <a:rPr lang="en-US" sz="2000"/>
            </a:br>
            <a:endParaRPr sz="2000"/>
          </a:p>
          <a:p>
            <a:pPr indent="-355600" lvl="0" marL="457200" rtl="0" algn="l">
              <a:spcBef>
                <a:spcPts val="0"/>
              </a:spcBef>
              <a:spcAft>
                <a:spcPts val="0"/>
              </a:spcAft>
              <a:buSzPts val="2000"/>
              <a:buChar char="•"/>
            </a:pPr>
            <a:r>
              <a:rPr lang="en-US" sz="2000"/>
              <a:t>Uses robot logic</a:t>
            </a:r>
            <a:endParaRPr sz="2000"/>
          </a:p>
          <a:p>
            <a:pPr indent="0" lvl="0" marL="0" rtl="0" algn="l">
              <a:spcBef>
                <a:spcPts val="1000"/>
              </a:spcBef>
              <a:spcAft>
                <a:spcPts val="0"/>
              </a:spcAft>
              <a:buNone/>
            </a:pPr>
            <a:r>
              <a:t/>
            </a:r>
            <a:endParaRPr sz="2400"/>
          </a:p>
        </p:txBody>
      </p:sp>
      <p:pic>
        <p:nvPicPr>
          <p:cNvPr descr="RG2 Gripper" id="261" name="Google Shape;261;g3b86deca15b_1_16"/>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262" name="Google Shape;262;g3b86deca15b_1_16"/>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63" name="Google Shape;263;g3b86deca15b_1_16"/>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g3b86deca15b_0_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Discussion</a:t>
            </a:r>
            <a:endParaRPr sz="2200">
              <a:latin typeface="Arial"/>
              <a:ea typeface="Arial"/>
              <a:cs typeface="Arial"/>
              <a:sym typeface="Arial"/>
            </a:endParaRPr>
          </a:p>
        </p:txBody>
      </p:sp>
      <p:pic>
        <p:nvPicPr>
          <p:cNvPr descr="RG2 Gripper" id="269" name="Google Shape;269;g3b86deca15b_0_7"/>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270" name="Google Shape;270;g3b86deca15b_0_7"/>
          <p:cNvSpPr txBox="1"/>
          <p:nvPr>
            <p:ph idx="1" type="body"/>
          </p:nvPr>
        </p:nvSpPr>
        <p:spPr>
          <a:xfrm>
            <a:off x="924800" y="1356875"/>
            <a:ext cx="5687700" cy="4555200"/>
          </a:xfrm>
          <a:prstGeom prst="rect">
            <a:avLst/>
          </a:prstGeom>
        </p:spPr>
        <p:txBody>
          <a:bodyPr anchorCtr="0" anchor="t" bIns="45700" lIns="91425" spcFirstLastPara="1" rIns="91425" wrap="square" tIns="45700">
            <a:normAutofit/>
          </a:bodyPr>
          <a:lstStyle/>
          <a:p>
            <a:pPr indent="0" lvl="0" marL="0" rtl="0" algn="l">
              <a:lnSpc>
                <a:spcPct val="95000"/>
              </a:lnSpc>
              <a:spcBef>
                <a:spcPts val="1200"/>
              </a:spcBef>
              <a:spcAft>
                <a:spcPts val="0"/>
              </a:spcAft>
              <a:buNone/>
            </a:pPr>
            <a:r>
              <a:rPr lang="en-US" sz="2500"/>
              <a:t>What worked well:</a:t>
            </a:r>
            <a:endParaRPr sz="2500"/>
          </a:p>
          <a:p>
            <a:pPr indent="-355600" lvl="0" marL="457200" rtl="0" algn="l">
              <a:lnSpc>
                <a:spcPct val="100000"/>
              </a:lnSpc>
              <a:spcBef>
                <a:spcPts val="1200"/>
              </a:spcBef>
              <a:spcAft>
                <a:spcPts val="0"/>
              </a:spcAft>
              <a:buSzPts val="2000"/>
              <a:buChar char="•"/>
            </a:pPr>
            <a:r>
              <a:rPr lang="en-US" sz="2000"/>
              <a:t>Easy</a:t>
            </a:r>
            <a:r>
              <a:rPr lang="en-US" sz="2000"/>
              <a:t> operator-controlling</a:t>
            </a:r>
            <a:endParaRPr sz="2000"/>
          </a:p>
          <a:p>
            <a:pPr indent="-355600" lvl="0" marL="457200" rtl="0" algn="l">
              <a:lnSpc>
                <a:spcPct val="100000"/>
              </a:lnSpc>
              <a:spcBef>
                <a:spcPts val="0"/>
              </a:spcBef>
              <a:spcAft>
                <a:spcPts val="0"/>
              </a:spcAft>
              <a:buSzPts val="2000"/>
              <a:buChar char="•"/>
            </a:pPr>
            <a:r>
              <a:rPr lang="en-US" sz="2000"/>
              <a:t>S</a:t>
            </a:r>
            <a:r>
              <a:rPr lang="en-US" sz="2000"/>
              <a:t>table robot communication</a:t>
            </a:r>
            <a:endParaRPr sz="2000"/>
          </a:p>
          <a:p>
            <a:pPr indent="-355600" lvl="0" marL="457200" rtl="0" algn="l">
              <a:lnSpc>
                <a:spcPct val="100000"/>
              </a:lnSpc>
              <a:spcBef>
                <a:spcPts val="0"/>
              </a:spcBef>
              <a:spcAft>
                <a:spcPts val="0"/>
              </a:spcAft>
              <a:buSzPts val="2000"/>
              <a:buChar char="•"/>
            </a:pPr>
            <a:r>
              <a:rPr lang="en-US" sz="2000"/>
              <a:t>Predictable robot behavior </a:t>
            </a:r>
            <a:br>
              <a:rPr lang="en-US" sz="2000"/>
            </a:br>
            <a:r>
              <a:rPr lang="en-US" sz="2000"/>
              <a:t>due to fixed positions</a:t>
            </a:r>
            <a:endParaRPr sz="2000"/>
          </a:p>
          <a:p>
            <a:pPr indent="-355600" lvl="0" marL="457200" rtl="0" algn="l">
              <a:lnSpc>
                <a:spcPct val="100000"/>
              </a:lnSpc>
              <a:spcBef>
                <a:spcPts val="0"/>
              </a:spcBef>
              <a:spcAft>
                <a:spcPts val="0"/>
              </a:spcAft>
              <a:buSzPts val="2000"/>
              <a:buChar char="•"/>
            </a:pPr>
            <a:r>
              <a:rPr lang="en-US" sz="2000"/>
              <a:t>Clear separation between GUI, </a:t>
            </a:r>
            <a:br>
              <a:rPr lang="en-US" sz="2000"/>
            </a:br>
            <a:r>
              <a:rPr lang="en-US" sz="2000"/>
              <a:t>database, and robot logic</a:t>
            </a:r>
            <a:endParaRPr sz="2000"/>
          </a:p>
          <a:p>
            <a:pPr indent="-381000" lvl="0" marL="457200" rtl="0" algn="l">
              <a:lnSpc>
                <a:spcPct val="100000"/>
              </a:lnSpc>
              <a:spcBef>
                <a:spcPts val="0"/>
              </a:spcBef>
              <a:spcAft>
                <a:spcPts val="0"/>
              </a:spcAft>
              <a:buSzPts val="2400"/>
              <a:buChar char="•"/>
            </a:pPr>
            <a:r>
              <a:rPr lang="en-US" sz="2000"/>
              <a:t>Easy testing using URSim</a:t>
            </a:r>
            <a:endParaRPr sz="2500"/>
          </a:p>
        </p:txBody>
      </p:sp>
      <p:sp>
        <p:nvSpPr>
          <p:cNvPr id="271" name="Google Shape;271;g3b86deca15b_0_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72" name="Google Shape;272;g3b86deca15b_0_7"/>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273" name="Google Shape;273;g3b86deca15b_0_7"/>
          <p:cNvSpPr txBox="1"/>
          <p:nvPr>
            <p:ph idx="1" type="body"/>
          </p:nvPr>
        </p:nvSpPr>
        <p:spPr>
          <a:xfrm>
            <a:off x="5985125" y="1356874"/>
            <a:ext cx="5673300" cy="5192700"/>
          </a:xfrm>
          <a:prstGeom prst="rect">
            <a:avLst/>
          </a:prstGeom>
        </p:spPr>
        <p:txBody>
          <a:bodyPr anchorCtr="0" anchor="t" bIns="45700" lIns="91425" spcFirstLastPara="1" rIns="91425" wrap="square" tIns="45700">
            <a:noAutofit/>
          </a:bodyPr>
          <a:lstStyle/>
          <a:p>
            <a:pPr indent="0" lvl="0" marL="0" rtl="0" algn="l">
              <a:lnSpc>
                <a:spcPct val="100000"/>
              </a:lnSpc>
              <a:spcBef>
                <a:spcPts val="1200"/>
              </a:spcBef>
              <a:spcAft>
                <a:spcPts val="0"/>
              </a:spcAft>
              <a:buNone/>
            </a:pPr>
            <a:r>
              <a:rPr lang="en-US" sz="2400"/>
              <a:t>Challenges:</a:t>
            </a:r>
            <a:endParaRPr sz="2400"/>
          </a:p>
          <a:p>
            <a:pPr indent="-355600" lvl="0" marL="457200" rtl="0" algn="l">
              <a:lnSpc>
                <a:spcPct val="100000"/>
              </a:lnSpc>
              <a:spcBef>
                <a:spcPts val="1200"/>
              </a:spcBef>
              <a:spcAft>
                <a:spcPts val="0"/>
              </a:spcAft>
              <a:buSzPts val="2000"/>
              <a:buChar char="•"/>
            </a:pPr>
            <a:r>
              <a:rPr lang="en-US" sz="2000"/>
              <a:t>Robot calibration required significant testing</a:t>
            </a:r>
            <a:endParaRPr sz="2000"/>
          </a:p>
          <a:p>
            <a:pPr indent="-355600" lvl="0" marL="457200" rtl="0" algn="l">
              <a:lnSpc>
                <a:spcPct val="100000"/>
              </a:lnSpc>
              <a:spcBef>
                <a:spcPts val="0"/>
              </a:spcBef>
              <a:spcAft>
                <a:spcPts val="0"/>
              </a:spcAft>
              <a:buSzPts val="2000"/>
              <a:buChar char="•"/>
            </a:pPr>
            <a:r>
              <a:rPr lang="en-US" sz="2000"/>
              <a:t>Fixed positions reduce flexibility</a:t>
            </a:r>
            <a:endParaRPr sz="2000"/>
          </a:p>
          <a:p>
            <a:pPr indent="-355600" lvl="0" marL="457200" rtl="0" algn="l">
              <a:lnSpc>
                <a:spcPct val="100000"/>
              </a:lnSpc>
              <a:spcBef>
                <a:spcPts val="0"/>
              </a:spcBef>
              <a:spcAft>
                <a:spcPts val="0"/>
              </a:spcAft>
              <a:buSzPts val="2000"/>
              <a:buChar char="•"/>
            </a:pPr>
            <a:r>
              <a:rPr lang="en-US" sz="2000"/>
              <a:t>System relies on operator-controlling</a:t>
            </a:r>
            <a:endParaRPr sz="2000"/>
          </a:p>
          <a:p>
            <a:pPr indent="0" lvl="0" marL="0" rtl="0" algn="l">
              <a:lnSpc>
                <a:spcPct val="100000"/>
              </a:lnSpc>
              <a:spcBef>
                <a:spcPts val="1200"/>
              </a:spcBef>
              <a:spcAft>
                <a:spcPts val="0"/>
              </a:spcAft>
              <a:buNone/>
            </a:pPr>
            <a:r>
              <a:rPr lang="en-US" sz="2400"/>
              <a:t>Trade-offs:</a:t>
            </a:r>
            <a:endParaRPr sz="2400"/>
          </a:p>
          <a:p>
            <a:pPr indent="-355600" lvl="0" marL="457200" rtl="0" algn="l">
              <a:lnSpc>
                <a:spcPct val="100000"/>
              </a:lnSpc>
              <a:spcBef>
                <a:spcPts val="1200"/>
              </a:spcBef>
              <a:spcAft>
                <a:spcPts val="0"/>
              </a:spcAft>
              <a:buSzPts val="2000"/>
              <a:buChar char="•"/>
            </a:pPr>
            <a:r>
              <a:rPr lang="en-US" sz="2000"/>
              <a:t>Manual operator control chosen over full automation</a:t>
            </a:r>
            <a:endParaRPr sz="2000"/>
          </a:p>
          <a:p>
            <a:pPr indent="-355600" lvl="0" marL="457200" rtl="0" algn="l">
              <a:lnSpc>
                <a:spcPct val="100000"/>
              </a:lnSpc>
              <a:spcBef>
                <a:spcPts val="0"/>
              </a:spcBef>
              <a:spcAft>
                <a:spcPts val="0"/>
              </a:spcAft>
              <a:buSzPts val="2000"/>
              <a:buChar char="•"/>
            </a:pPr>
            <a:r>
              <a:rPr lang="en-US" sz="2000"/>
              <a:t>Fixed positions instead of vision system</a:t>
            </a:r>
            <a:endParaRPr sz="2000"/>
          </a:p>
          <a:p>
            <a:pPr indent="-355600" lvl="0" marL="457200" rtl="0" algn="l">
              <a:lnSpc>
                <a:spcPct val="100000"/>
              </a:lnSpc>
              <a:spcBef>
                <a:spcPts val="0"/>
              </a:spcBef>
              <a:spcAft>
                <a:spcPts val="0"/>
              </a:spcAft>
              <a:buSzPts val="2000"/>
              <a:buChar char="•"/>
            </a:pPr>
            <a:r>
              <a:rPr lang="en-US" sz="2000"/>
              <a:t>Safety prioritized over throughput</a:t>
            </a:r>
            <a:endParaRPr b="1" sz="2000"/>
          </a:p>
          <a:p>
            <a:pPr indent="0" lvl="0" marL="0" rtl="0" algn="l">
              <a:lnSpc>
                <a:spcPct val="115000"/>
              </a:lnSpc>
              <a:spcBef>
                <a:spcPts val="1200"/>
              </a:spcBef>
              <a:spcAft>
                <a:spcPts val="1200"/>
              </a:spcAft>
              <a:buNone/>
            </a:pPr>
            <a:r>
              <a:t/>
            </a:r>
            <a:endParaRPr b="1"/>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g3b86deca15b_1_8"/>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Solution</a:t>
            </a:r>
            <a:endParaRPr sz="2200">
              <a:latin typeface="Arial"/>
              <a:ea typeface="Arial"/>
              <a:cs typeface="Arial"/>
              <a:sym typeface="Arial"/>
            </a:endParaRPr>
          </a:p>
        </p:txBody>
      </p:sp>
      <p:pic>
        <p:nvPicPr>
          <p:cNvPr descr="RG2 Gripper" id="279" name="Google Shape;279;g3b86deca15b_1_8"/>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280" name="Google Shape;280;g3b86deca15b_1_8"/>
          <p:cNvSpPr txBox="1"/>
          <p:nvPr>
            <p:ph idx="1" type="body"/>
          </p:nvPr>
        </p:nvSpPr>
        <p:spPr>
          <a:xfrm>
            <a:off x="924800" y="1356875"/>
            <a:ext cx="3699300" cy="4555200"/>
          </a:xfrm>
          <a:prstGeom prst="rect">
            <a:avLst/>
          </a:prstGeom>
        </p:spPr>
        <p:txBody>
          <a:bodyPr anchorCtr="0" anchor="t" bIns="45700" lIns="91425" spcFirstLastPara="1" rIns="91425" wrap="square" tIns="45700">
            <a:noAutofit/>
          </a:bodyPr>
          <a:lstStyle/>
          <a:p>
            <a:pPr indent="-355600" lvl="0" marL="457200" rtl="0" algn="l">
              <a:lnSpc>
                <a:spcPct val="115000"/>
              </a:lnSpc>
              <a:spcBef>
                <a:spcPts val="1400"/>
              </a:spcBef>
              <a:spcAft>
                <a:spcPts val="0"/>
              </a:spcAft>
              <a:buSzPts val="2000"/>
              <a:buChar char="•"/>
            </a:pPr>
            <a:r>
              <a:rPr lang="en-US" sz="2000"/>
              <a:t>Functional automated assembly prototype</a:t>
            </a:r>
            <a:endParaRPr sz="2000"/>
          </a:p>
          <a:p>
            <a:pPr indent="-355600" lvl="0" marL="457200" rtl="0" algn="l">
              <a:lnSpc>
                <a:spcPct val="115000"/>
              </a:lnSpc>
              <a:spcBef>
                <a:spcPts val="0"/>
              </a:spcBef>
              <a:spcAft>
                <a:spcPts val="0"/>
              </a:spcAft>
              <a:buSzPts val="2000"/>
              <a:buChar char="•"/>
            </a:pPr>
            <a:r>
              <a:rPr lang="en-US" sz="2000"/>
              <a:t>End-to-end digital flow:</a:t>
            </a:r>
            <a:endParaRPr sz="2000"/>
          </a:p>
          <a:p>
            <a:pPr indent="-355600" lvl="1" marL="914400" rtl="0" algn="l">
              <a:lnSpc>
                <a:spcPct val="115000"/>
              </a:lnSpc>
              <a:spcBef>
                <a:spcPts val="0"/>
              </a:spcBef>
              <a:spcAft>
                <a:spcPts val="0"/>
              </a:spcAft>
              <a:buSzPts val="2000"/>
              <a:buChar char="•"/>
            </a:pPr>
            <a:r>
              <a:rPr lang="en-US" sz="2000"/>
              <a:t>GUI → Database → </a:t>
            </a:r>
            <a:br>
              <a:rPr lang="en-US" sz="2000"/>
            </a:br>
            <a:r>
              <a:rPr lang="en-US" sz="2000"/>
              <a:t>Robot → Database</a:t>
            </a:r>
            <a:endParaRPr sz="2000"/>
          </a:p>
          <a:p>
            <a:pPr indent="-355600" lvl="0" marL="457200" rtl="0" algn="l">
              <a:lnSpc>
                <a:spcPct val="115000"/>
              </a:lnSpc>
              <a:spcBef>
                <a:spcPts val="0"/>
              </a:spcBef>
              <a:spcAft>
                <a:spcPts val="0"/>
              </a:spcAft>
              <a:buSzPts val="2000"/>
              <a:buChar char="•"/>
            </a:pPr>
            <a:r>
              <a:rPr lang="en-US" sz="2000"/>
              <a:t>Minimal human interaction during execution</a:t>
            </a:r>
            <a:endParaRPr sz="2000"/>
          </a:p>
          <a:p>
            <a:pPr indent="-355600" lvl="0" marL="457200" rtl="0" algn="l">
              <a:lnSpc>
                <a:spcPct val="115000"/>
              </a:lnSpc>
              <a:spcBef>
                <a:spcPts val="0"/>
              </a:spcBef>
              <a:spcAft>
                <a:spcPts val="0"/>
              </a:spcAft>
              <a:buSzPts val="2000"/>
              <a:buChar char="•"/>
            </a:pPr>
            <a:r>
              <a:rPr lang="en-US" sz="2000"/>
              <a:t>Modular and maintainable architecture</a:t>
            </a:r>
            <a:endParaRPr sz="2000"/>
          </a:p>
        </p:txBody>
      </p:sp>
      <p:sp>
        <p:nvSpPr>
          <p:cNvPr id="281" name="Google Shape;281;g3b86deca15b_1_8"/>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82" name="Google Shape;282;g3b86deca15b_1_8"/>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283" name="Google Shape;283;g3b86deca15b_1_8"/>
          <p:cNvSpPr txBox="1"/>
          <p:nvPr>
            <p:ph type="title"/>
          </p:nvPr>
        </p:nvSpPr>
        <p:spPr>
          <a:xfrm>
            <a:off x="5114600" y="593375"/>
            <a:ext cx="3508500" cy="763500"/>
          </a:xfrm>
          <a:prstGeom prst="rect">
            <a:avLst/>
          </a:prstGeom>
        </p:spPr>
        <p:txBody>
          <a:bodyPr anchorCtr="0" anchor="ctr" bIns="45700" lIns="91425" spcFirstLastPara="1" rIns="91425" wrap="square" tIns="45700">
            <a:no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F</a:t>
            </a:r>
            <a:r>
              <a:rPr b="1" lang="en-US" sz="2200">
                <a:latin typeface="Arial"/>
                <a:ea typeface="Arial"/>
                <a:cs typeface="Arial"/>
                <a:sym typeface="Arial"/>
              </a:rPr>
              <a:t>uture implementation</a:t>
            </a:r>
            <a:endParaRPr sz="2200">
              <a:latin typeface="Arial"/>
              <a:ea typeface="Arial"/>
              <a:cs typeface="Arial"/>
              <a:sym typeface="Arial"/>
            </a:endParaRPr>
          </a:p>
        </p:txBody>
      </p:sp>
      <p:sp>
        <p:nvSpPr>
          <p:cNvPr id="284" name="Google Shape;284;g3b86deca15b_1_8"/>
          <p:cNvSpPr txBox="1"/>
          <p:nvPr>
            <p:ph idx="1" type="body"/>
          </p:nvPr>
        </p:nvSpPr>
        <p:spPr>
          <a:xfrm>
            <a:off x="5985125" y="1356874"/>
            <a:ext cx="5673300" cy="5192700"/>
          </a:xfrm>
          <a:prstGeom prst="rect">
            <a:avLst/>
          </a:prstGeom>
        </p:spPr>
        <p:txBody>
          <a:bodyPr anchorCtr="0" anchor="t" bIns="45700" lIns="91425" spcFirstLastPara="1" rIns="91425" wrap="square" tIns="45700">
            <a:noAutofit/>
          </a:bodyPr>
          <a:lstStyle/>
          <a:p>
            <a:pPr indent="-355600" lvl="0" marL="457200" rtl="0" algn="l">
              <a:lnSpc>
                <a:spcPct val="115000"/>
              </a:lnSpc>
              <a:spcBef>
                <a:spcPts val="1200"/>
              </a:spcBef>
              <a:spcAft>
                <a:spcPts val="0"/>
              </a:spcAft>
              <a:buSzPts val="2000"/>
              <a:buChar char="•"/>
            </a:pPr>
            <a:r>
              <a:rPr lang="en-US" sz="2000"/>
              <a:t>Wireless connection</a:t>
            </a:r>
            <a:endParaRPr sz="2000"/>
          </a:p>
          <a:p>
            <a:pPr indent="-355600" lvl="0" marL="457200" rtl="0" algn="l">
              <a:lnSpc>
                <a:spcPct val="115000"/>
              </a:lnSpc>
              <a:spcBef>
                <a:spcPts val="0"/>
              </a:spcBef>
              <a:spcAft>
                <a:spcPts val="0"/>
              </a:spcAft>
              <a:buSzPts val="2000"/>
              <a:buChar char="•"/>
            </a:pPr>
            <a:r>
              <a:rPr lang="en-US" sz="2000"/>
              <a:t>Additional robots</a:t>
            </a:r>
            <a:endParaRPr sz="2000"/>
          </a:p>
          <a:p>
            <a:pPr indent="-355600" lvl="0" marL="457200" rtl="0" algn="l">
              <a:lnSpc>
                <a:spcPct val="115000"/>
              </a:lnSpc>
              <a:spcBef>
                <a:spcPts val="0"/>
              </a:spcBef>
              <a:spcAft>
                <a:spcPts val="0"/>
              </a:spcAft>
              <a:buSzPts val="2000"/>
              <a:buChar char="•"/>
            </a:pPr>
            <a:r>
              <a:rPr lang="en-US" sz="2000"/>
              <a:t>Conveyor belt</a:t>
            </a:r>
            <a:endParaRPr sz="2000"/>
          </a:p>
          <a:p>
            <a:pPr indent="-355600" lvl="0" marL="457200" rtl="0" algn="l">
              <a:lnSpc>
                <a:spcPct val="115000"/>
              </a:lnSpc>
              <a:spcBef>
                <a:spcPts val="0"/>
              </a:spcBef>
              <a:spcAft>
                <a:spcPts val="0"/>
              </a:spcAft>
              <a:buSzPts val="2000"/>
              <a:buChar char="•"/>
            </a:pPr>
            <a:r>
              <a:rPr lang="en-US" sz="2000"/>
              <a:t>Machine vision</a:t>
            </a:r>
            <a:endParaRPr sz="2000"/>
          </a:p>
        </p:txBody>
      </p:sp>
      <p:pic>
        <p:nvPicPr>
          <p:cNvPr id="285" name="Google Shape;285;g3b86deca15b_1_8"/>
          <p:cNvPicPr preferRelativeResize="0"/>
          <p:nvPr/>
        </p:nvPicPr>
        <p:blipFill>
          <a:blip r:embed="rId5">
            <a:alphaModFix/>
          </a:blip>
          <a:stretch>
            <a:fillRect/>
          </a:stretch>
        </p:blipFill>
        <p:spPr>
          <a:xfrm>
            <a:off x="5219216" y="2809400"/>
            <a:ext cx="6289825" cy="4048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pic>
        <p:nvPicPr>
          <p:cNvPr descr="RG2 Gripper" id="290" name="Google Shape;290;g3b86deca15b_0_37"/>
          <p:cNvPicPr preferRelativeResize="0"/>
          <p:nvPr/>
        </p:nvPicPr>
        <p:blipFill rotWithShape="1">
          <a:blip r:embed="rId3">
            <a:alphaModFix/>
          </a:blip>
          <a:srcRect b="0" l="26921" r="0" t="7552"/>
          <a:stretch/>
        </p:blipFill>
        <p:spPr>
          <a:xfrm flipH="1" rot="-6399600">
            <a:off x="6842599" y="-798746"/>
            <a:ext cx="6296776" cy="8629545"/>
          </a:xfrm>
          <a:prstGeom prst="rect">
            <a:avLst/>
          </a:prstGeom>
          <a:noFill/>
          <a:ln>
            <a:noFill/>
          </a:ln>
        </p:spPr>
      </p:pic>
      <p:sp>
        <p:nvSpPr>
          <p:cNvPr id="291" name="Google Shape;291;g3b86deca15b_0_3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400"/>
              </a:spcBef>
              <a:spcAft>
                <a:spcPts val="1100"/>
              </a:spcAft>
              <a:buClr>
                <a:schemeClr val="dk1"/>
              </a:buClr>
              <a:buSzPts val="1500"/>
              <a:buFont typeface="Arial"/>
              <a:buNone/>
            </a:pPr>
            <a:r>
              <a:rPr b="1" lang="en-US" sz="2200">
                <a:latin typeface="Arial"/>
                <a:ea typeface="Arial"/>
                <a:cs typeface="Arial"/>
                <a:sym typeface="Arial"/>
              </a:rPr>
              <a:t>Conclusio</a:t>
            </a:r>
            <a:r>
              <a:rPr b="1" lang="en-US" sz="2200">
                <a:latin typeface="Arial"/>
                <a:ea typeface="Arial"/>
                <a:cs typeface="Arial"/>
                <a:sym typeface="Arial"/>
              </a:rPr>
              <a:t>n</a:t>
            </a:r>
            <a:endParaRPr sz="2200">
              <a:latin typeface="Arial"/>
              <a:ea typeface="Arial"/>
              <a:cs typeface="Arial"/>
              <a:sym typeface="Arial"/>
            </a:endParaRPr>
          </a:p>
        </p:txBody>
      </p:sp>
      <p:pic>
        <p:nvPicPr>
          <p:cNvPr descr="RG2 Gripper" id="292" name="Google Shape;292;g3b86deca15b_0_37"/>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293" name="Google Shape;293;g3b86deca15b_0_37"/>
          <p:cNvSpPr txBox="1"/>
          <p:nvPr>
            <p:ph idx="1" type="body"/>
          </p:nvPr>
        </p:nvSpPr>
        <p:spPr>
          <a:xfrm>
            <a:off x="897900" y="1356875"/>
            <a:ext cx="5615400" cy="4555200"/>
          </a:xfrm>
          <a:prstGeom prst="rect">
            <a:avLst/>
          </a:prstGeom>
        </p:spPr>
        <p:txBody>
          <a:bodyPr anchorCtr="0" anchor="t" bIns="45700" lIns="91425" spcFirstLastPara="1" rIns="91425" wrap="square" tIns="45700">
            <a:normAutofit/>
          </a:bodyPr>
          <a:lstStyle/>
          <a:p>
            <a:pPr indent="-381000" lvl="0" marL="457200" rtl="0" algn="l">
              <a:lnSpc>
                <a:spcPct val="115000"/>
              </a:lnSpc>
              <a:spcBef>
                <a:spcPts val="1400"/>
              </a:spcBef>
              <a:spcAft>
                <a:spcPts val="0"/>
              </a:spcAft>
              <a:buSzPts val="2400"/>
              <a:buChar char="•"/>
            </a:pPr>
            <a:r>
              <a:rPr lang="en-US" sz="2400"/>
              <a:t>Project objectives were met</a:t>
            </a:r>
            <a:endParaRPr sz="2400"/>
          </a:p>
          <a:p>
            <a:pPr indent="-381000" lvl="0" marL="457200" rtl="0" algn="l">
              <a:lnSpc>
                <a:spcPct val="115000"/>
              </a:lnSpc>
              <a:spcBef>
                <a:spcPts val="0"/>
              </a:spcBef>
              <a:spcAft>
                <a:spcPts val="0"/>
              </a:spcAft>
              <a:buSzPts val="2400"/>
              <a:buChar char="•"/>
            </a:pPr>
            <a:r>
              <a:rPr lang="en-US" sz="2400"/>
              <a:t>System behaves like a realistic industrial prototype</a:t>
            </a:r>
            <a:endParaRPr sz="2400"/>
          </a:p>
          <a:p>
            <a:pPr indent="-381000" lvl="0" marL="457200" rtl="0" algn="l">
              <a:lnSpc>
                <a:spcPct val="115000"/>
              </a:lnSpc>
              <a:spcBef>
                <a:spcPts val="0"/>
              </a:spcBef>
              <a:spcAft>
                <a:spcPts val="0"/>
              </a:spcAft>
              <a:buSzPts val="2400"/>
              <a:buChar char="•"/>
            </a:pPr>
            <a:r>
              <a:rPr lang="en-US" sz="2400"/>
              <a:t>Demonstrates principles from:</a:t>
            </a:r>
            <a:endParaRPr sz="2400"/>
          </a:p>
          <a:p>
            <a:pPr indent="-381000" lvl="1" marL="914400" rtl="0" algn="l">
              <a:lnSpc>
                <a:spcPct val="115000"/>
              </a:lnSpc>
              <a:spcBef>
                <a:spcPts val="0"/>
              </a:spcBef>
              <a:spcAft>
                <a:spcPts val="0"/>
              </a:spcAft>
              <a:buSzPts val="2400"/>
              <a:buChar char="•"/>
            </a:pPr>
            <a:r>
              <a:rPr lang="en-US"/>
              <a:t>Industrial programming</a:t>
            </a:r>
            <a:endParaRPr/>
          </a:p>
          <a:p>
            <a:pPr indent="-381000" lvl="1" marL="914400" rtl="0" algn="l">
              <a:lnSpc>
                <a:spcPct val="115000"/>
              </a:lnSpc>
              <a:spcBef>
                <a:spcPts val="0"/>
              </a:spcBef>
              <a:spcAft>
                <a:spcPts val="0"/>
              </a:spcAft>
              <a:buSzPts val="2400"/>
              <a:buChar char="•"/>
            </a:pPr>
            <a:r>
              <a:rPr lang="en-US"/>
              <a:t>Industry 4.0 &amp; 5.0</a:t>
            </a:r>
            <a:endParaRPr/>
          </a:p>
          <a:p>
            <a:pPr indent="-381000" lvl="1" marL="914400" rtl="0" algn="l">
              <a:lnSpc>
                <a:spcPct val="115000"/>
              </a:lnSpc>
              <a:spcBef>
                <a:spcPts val="0"/>
              </a:spcBef>
              <a:spcAft>
                <a:spcPts val="0"/>
              </a:spcAft>
              <a:buSzPts val="2400"/>
              <a:buChar char="•"/>
            </a:pPr>
            <a:r>
              <a:rPr lang="en-US"/>
              <a:t>Automation</a:t>
            </a:r>
            <a:endParaRPr/>
          </a:p>
          <a:p>
            <a:pPr indent="-381000" lvl="1" marL="914400" rtl="0" algn="l">
              <a:lnSpc>
                <a:spcPct val="115000"/>
              </a:lnSpc>
              <a:spcBef>
                <a:spcPts val="0"/>
              </a:spcBef>
              <a:spcAft>
                <a:spcPts val="0"/>
              </a:spcAft>
              <a:buSzPts val="2400"/>
              <a:buChar char="•"/>
            </a:pPr>
            <a:r>
              <a:rPr lang="en-US"/>
              <a:t>Security &amp; safety</a:t>
            </a:r>
            <a:endParaRPr/>
          </a:p>
          <a:p>
            <a:pPr indent="-381000" lvl="1" marL="914400" rtl="0" algn="l">
              <a:lnSpc>
                <a:spcPct val="115000"/>
              </a:lnSpc>
              <a:spcBef>
                <a:spcPts val="0"/>
              </a:spcBef>
              <a:spcAft>
                <a:spcPts val="0"/>
              </a:spcAft>
              <a:buSzPts val="2400"/>
              <a:buChar char="•"/>
            </a:pPr>
            <a:r>
              <a:rPr lang="en-US"/>
              <a:t>Modular software design</a:t>
            </a:r>
            <a:endParaRPr/>
          </a:p>
        </p:txBody>
      </p:sp>
      <p:sp>
        <p:nvSpPr>
          <p:cNvPr id="294" name="Google Shape;294;g3b86deca15b_0_3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95" name="Google Shape;295;g3b86deca15b_0_37"/>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290"/>
                                        </p:tgtEl>
                                        <p:attrNameLst>
                                          <p:attrName>style.visibility</p:attrName>
                                        </p:attrNameLst>
                                      </p:cBhvr>
                                      <p:to>
                                        <p:strVal val="visible"/>
                                      </p:to>
                                    </p:set>
                                    <p:anim calcmode="lin" valueType="num">
                                      <p:cBhvr additive="base">
                                        <p:cTn dur="2000"/>
                                        <p:tgtEl>
                                          <p:spTgt spid="290"/>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Office-tema">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2026-01-16T08:23:09Z</dcterms:created>
  <dc:creator>Lars Bach Sørensen</dc:creator>
</cp:coreProperties>
</file>